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145706598" r:id="rId2"/>
    <p:sldId id="2145706599" r:id="rId3"/>
    <p:sldId id="2145706600" r:id="rId4"/>
    <p:sldId id="2145706601" r:id="rId5"/>
    <p:sldId id="2145706602" r:id="rId6"/>
    <p:sldId id="2145706603" r:id="rId7"/>
    <p:sldId id="2145706604" r:id="rId8"/>
    <p:sldId id="2145706605" r:id="rId9"/>
    <p:sldId id="2145706606" r:id="rId10"/>
    <p:sldId id="2145706607" r:id="rId11"/>
    <p:sldId id="214570660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3" d="100"/>
          <a:sy n="103" d="100"/>
        </p:scale>
        <p:origin x="138"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80D06E-885B-4250-82FF-8B35AA004731}"/>
              </a:ext>
            </a:extLst>
          </p:cNvPr>
          <p:cNvSpPr txBox="1"/>
          <p:nvPr userDrawn="1"/>
        </p:nvSpPr>
        <p:spPr>
          <a:xfrm>
            <a:off x="11707136" y="6404948"/>
            <a:ext cx="229048" cy="246221"/>
          </a:xfrm>
          <a:prstGeom prst="rect">
            <a:avLst/>
          </a:prstGeom>
          <a:noFill/>
        </p:spPr>
        <p:txBody>
          <a:bodyPr wrap="square" lIns="0" tIns="0" rIns="0" bIns="0" rtlCol="0" anchor="ctr">
            <a:spAutoFit/>
          </a:bodyPr>
          <a:lstStyle/>
          <a:p>
            <a:pPr algn="ctr"/>
            <a:fld id="{A45BC538-8E14-4F11-B85B-5B0F141794B2}" type="slidenum">
              <a:rPr lang="en-US" sz="1600" smtClean="0">
                <a:solidFill>
                  <a:schemeClr val="bg1">
                    <a:lumMod val="85000"/>
                  </a:schemeClr>
                </a:solidFill>
                <a:latin typeface="Roboto Cn" pitchFamily="2" charset="0"/>
                <a:ea typeface="Roboto Cn" pitchFamily="2" charset="0"/>
              </a:rPr>
              <a:t>‹#›</a:t>
            </a:fld>
            <a:endParaRPr lang="en-IN" sz="1600" dirty="0">
              <a:solidFill>
                <a:schemeClr val="bg1">
                  <a:lumMod val="85000"/>
                </a:schemeClr>
              </a:solidFill>
              <a:latin typeface="Roboto Cn" pitchFamily="2" charset="0"/>
              <a:ea typeface="Roboto Cn" pitchFamily="2" charset="0"/>
            </a:endParaRPr>
          </a:p>
        </p:txBody>
      </p:sp>
    </p:spTree>
    <p:extLst>
      <p:ext uri="{BB962C8B-B14F-4D97-AF65-F5344CB8AC3E}">
        <p14:creationId xmlns:p14="http://schemas.microsoft.com/office/powerpoint/2010/main" val="3389978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A52AC43-4168-0DEA-81B2-984D75E48427}"/>
              </a:ext>
            </a:extLst>
          </p:cNvPr>
          <p:cNvCxnSpPr>
            <a:cxnSpLocks/>
          </p:cNvCxnSpPr>
          <p:nvPr/>
        </p:nvCxnSpPr>
        <p:spPr>
          <a:xfrm>
            <a:off x="-4145" y="795112"/>
            <a:ext cx="2197100" cy="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008551B-BA33-967D-15F3-B1BA28E408D0}"/>
              </a:ext>
            </a:extLst>
          </p:cNvPr>
          <p:cNvCxnSpPr>
            <a:cxnSpLocks/>
          </p:cNvCxnSpPr>
          <p:nvPr/>
        </p:nvCxnSpPr>
        <p:spPr>
          <a:xfrm>
            <a:off x="243505" y="795112"/>
            <a:ext cx="409575" cy="0"/>
          </a:xfrm>
          <a:prstGeom prst="line">
            <a:avLst/>
          </a:prstGeom>
          <a:ln w="63500">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C5F90CA-A7D1-B590-BE37-6B85560DEDD1}"/>
              </a:ext>
            </a:extLst>
          </p:cNvPr>
          <p:cNvCxnSpPr>
            <a:cxnSpLocks/>
          </p:cNvCxnSpPr>
          <p:nvPr/>
        </p:nvCxnSpPr>
        <p:spPr>
          <a:xfrm>
            <a:off x="729280" y="795112"/>
            <a:ext cx="409575" cy="0"/>
          </a:xfrm>
          <a:prstGeom prst="line">
            <a:avLst/>
          </a:prstGeom>
          <a:ln w="635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9" name="Content Placeholder 8">
            <a:extLst>
              <a:ext uri="{FF2B5EF4-FFF2-40B4-BE49-F238E27FC236}">
                <a16:creationId xmlns:a16="http://schemas.microsoft.com/office/drawing/2014/main" id="{C905E8AD-67C2-411A-28D7-EE137D019FB0}"/>
              </a:ext>
            </a:extLst>
          </p:cNvPr>
          <p:cNvSpPr>
            <a:spLocks noGrp="1"/>
          </p:cNvSpPr>
          <p:nvPr>
            <p:ph sz="quarter" idx="10"/>
          </p:nvPr>
        </p:nvSpPr>
        <p:spPr>
          <a:xfrm>
            <a:off x="200025" y="117475"/>
            <a:ext cx="10677525" cy="361950"/>
          </a:xfrm>
          <a:prstGeom prst="rect">
            <a:avLst/>
          </a:prstGeom>
        </p:spPr>
        <p:txBody>
          <a:bodyPr lIns="0" anchor="ctr"/>
          <a:lstStyle>
            <a:lvl1pPr marL="0" indent="0">
              <a:buNone/>
              <a:defRPr sz="2000" b="1">
                <a:latin typeface="Karla" pitchFamily="2" charset="0"/>
                <a:ea typeface="Karla" pitchFamily="2" charset="0"/>
              </a:defRPr>
            </a:lvl1pPr>
          </a:lstStyle>
          <a:p>
            <a:pPr lvl="0"/>
            <a:endParaRPr lang="en-IN" dirty="0"/>
          </a:p>
        </p:txBody>
      </p:sp>
      <p:sp>
        <p:nvSpPr>
          <p:cNvPr id="15" name="TextBox 14">
            <a:extLst>
              <a:ext uri="{FF2B5EF4-FFF2-40B4-BE49-F238E27FC236}">
                <a16:creationId xmlns:a16="http://schemas.microsoft.com/office/drawing/2014/main" id="{2A206229-D892-447A-8D46-CED8DC3AE16A}"/>
              </a:ext>
            </a:extLst>
          </p:cNvPr>
          <p:cNvSpPr txBox="1"/>
          <p:nvPr userDrawn="1"/>
        </p:nvSpPr>
        <p:spPr>
          <a:xfrm>
            <a:off x="11707136" y="6404948"/>
            <a:ext cx="229048" cy="246221"/>
          </a:xfrm>
          <a:prstGeom prst="rect">
            <a:avLst/>
          </a:prstGeom>
          <a:noFill/>
        </p:spPr>
        <p:txBody>
          <a:bodyPr wrap="square" lIns="0" tIns="0" rIns="0" bIns="0" rtlCol="0" anchor="ctr">
            <a:spAutoFit/>
          </a:bodyPr>
          <a:lstStyle/>
          <a:p>
            <a:pPr algn="ctr"/>
            <a:fld id="{A45BC538-8E14-4F11-B85B-5B0F141794B2}" type="slidenum">
              <a:rPr lang="en-US" sz="1600" smtClean="0">
                <a:solidFill>
                  <a:schemeClr val="bg1">
                    <a:lumMod val="85000"/>
                  </a:schemeClr>
                </a:solidFill>
                <a:latin typeface="Roboto Cn" pitchFamily="2" charset="0"/>
                <a:ea typeface="Roboto Cn" pitchFamily="2" charset="0"/>
              </a:rPr>
              <a:t>‹#›</a:t>
            </a:fld>
            <a:endParaRPr lang="en-IN" sz="1600" dirty="0">
              <a:solidFill>
                <a:schemeClr val="bg1">
                  <a:lumMod val="85000"/>
                </a:schemeClr>
              </a:solidFill>
              <a:latin typeface="Roboto Cn" pitchFamily="2" charset="0"/>
              <a:ea typeface="Roboto Cn" pitchFamily="2" charset="0"/>
            </a:endParaRPr>
          </a:p>
        </p:txBody>
      </p:sp>
      <p:pic>
        <p:nvPicPr>
          <p:cNvPr id="16" name="Picture 15">
            <a:extLst>
              <a:ext uri="{FF2B5EF4-FFF2-40B4-BE49-F238E27FC236}">
                <a16:creationId xmlns:a16="http://schemas.microsoft.com/office/drawing/2014/main" id="{FA9130AE-6862-45E6-9EC3-742157BDBF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9725" y="143710"/>
            <a:ext cx="1088571" cy="510013"/>
          </a:xfrm>
          <a:prstGeom prst="rect">
            <a:avLst/>
          </a:prstGeom>
        </p:spPr>
      </p:pic>
    </p:spTree>
    <p:extLst>
      <p:ext uri="{BB962C8B-B14F-4D97-AF65-F5344CB8AC3E}">
        <p14:creationId xmlns:p14="http://schemas.microsoft.com/office/powerpoint/2010/main" val="1771828193"/>
      </p:ext>
    </p:extLst>
  </p:cSld>
  <p:clrMapOvr>
    <a:masterClrMapping/>
  </p:clrMapOvr>
  <p:extLst>
    <p:ext uri="{DCECCB84-F9BA-43D5-87BE-67443E8EF086}">
      <p15:sldGuideLst xmlns:p15="http://schemas.microsoft.com/office/powerpoint/2012/main">
        <p15:guide id="1" orient="horz" pos="448">
          <p15:clr>
            <a:srgbClr val="FBAE40"/>
          </p15:clr>
        </p15:guide>
        <p15:guide id="2" orient="horz" pos="41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16" name="图片 2">
            <a:extLst>
              <a:ext uri="{FF2B5EF4-FFF2-40B4-BE49-F238E27FC236}">
                <a16:creationId xmlns:a16="http://schemas.microsoft.com/office/drawing/2014/main" id="{61458E19-731E-4F68-BEEF-D4C7A4A1AF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1999" cy="6858000"/>
          </a:xfrm>
          <a:prstGeom prst="rect">
            <a:avLst/>
          </a:prstGeom>
        </p:spPr>
      </p:pic>
      <p:sp>
        <p:nvSpPr>
          <p:cNvPr id="2" name="Rectangle 1">
            <a:extLst>
              <a:ext uri="{FF2B5EF4-FFF2-40B4-BE49-F238E27FC236}">
                <a16:creationId xmlns:a16="http://schemas.microsoft.com/office/drawing/2014/main" id="{D7FA3A07-5F81-9AAB-623C-A8FDCA9DB434}"/>
              </a:ext>
            </a:extLst>
          </p:cNvPr>
          <p:cNvSpPr/>
          <p:nvPr userDrawn="1"/>
        </p:nvSpPr>
        <p:spPr>
          <a:xfrm>
            <a:off x="-1" y="0"/>
            <a:ext cx="12191999" cy="987594"/>
          </a:xfrm>
          <a:prstGeom prst="rect">
            <a:avLst/>
          </a:prstGeom>
          <a:gradFill>
            <a:gsLst>
              <a:gs pos="0">
                <a:schemeClr val="bg1"/>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1C4D37E7-3632-495B-9DA8-404620CACCB2}"/>
              </a:ext>
            </a:extLst>
          </p:cNvPr>
          <p:cNvSpPr txBox="1"/>
          <p:nvPr userDrawn="1"/>
        </p:nvSpPr>
        <p:spPr>
          <a:xfrm>
            <a:off x="11707136" y="6404948"/>
            <a:ext cx="229048" cy="246221"/>
          </a:xfrm>
          <a:prstGeom prst="rect">
            <a:avLst/>
          </a:prstGeom>
          <a:noFill/>
        </p:spPr>
        <p:txBody>
          <a:bodyPr wrap="square" lIns="0" tIns="0" rIns="0" bIns="0" rtlCol="0" anchor="ctr">
            <a:spAutoFit/>
          </a:bodyPr>
          <a:lstStyle/>
          <a:p>
            <a:pPr algn="ctr"/>
            <a:fld id="{A45BC538-8E14-4F11-B85B-5B0F141794B2}" type="slidenum">
              <a:rPr lang="en-US" sz="1600" smtClean="0">
                <a:solidFill>
                  <a:schemeClr val="bg1">
                    <a:lumMod val="50000"/>
                  </a:schemeClr>
                </a:solidFill>
                <a:latin typeface="Roboto Cn" pitchFamily="2" charset="0"/>
                <a:ea typeface="Roboto Cn" pitchFamily="2" charset="0"/>
              </a:rPr>
              <a:t>‹#›</a:t>
            </a:fld>
            <a:endParaRPr lang="en-IN" sz="1600" dirty="0">
              <a:solidFill>
                <a:schemeClr val="bg1">
                  <a:lumMod val="50000"/>
                </a:schemeClr>
              </a:solidFill>
              <a:latin typeface="Roboto Cn" pitchFamily="2" charset="0"/>
              <a:ea typeface="Roboto Cn" pitchFamily="2" charset="0"/>
            </a:endParaRPr>
          </a:p>
        </p:txBody>
      </p:sp>
      <p:pic>
        <p:nvPicPr>
          <p:cNvPr id="17" name="Picture 16">
            <a:extLst>
              <a:ext uri="{FF2B5EF4-FFF2-40B4-BE49-F238E27FC236}">
                <a16:creationId xmlns:a16="http://schemas.microsoft.com/office/drawing/2014/main" id="{1FB53B24-0EB3-4A0E-A7AC-E971D7D422B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39725" y="143710"/>
            <a:ext cx="1088571" cy="510013"/>
          </a:xfrm>
          <a:prstGeom prst="rect">
            <a:avLst/>
          </a:prstGeom>
        </p:spPr>
      </p:pic>
    </p:spTree>
    <p:extLst>
      <p:ext uri="{BB962C8B-B14F-4D97-AF65-F5344CB8AC3E}">
        <p14:creationId xmlns:p14="http://schemas.microsoft.com/office/powerpoint/2010/main" val="958496152"/>
      </p:ext>
    </p:extLst>
  </p:cSld>
  <p:clrMapOvr>
    <a:masterClrMapping/>
  </p:clrMapOvr>
  <p:extLst>
    <p:ext uri="{DCECCB84-F9BA-43D5-87BE-67443E8EF086}">
      <p15:sldGuideLst xmlns:p15="http://schemas.microsoft.com/office/powerpoint/2012/main">
        <p15:guide id="1" orient="horz" pos="448">
          <p15:clr>
            <a:srgbClr val="FBAE40"/>
          </p15:clr>
        </p15:guide>
        <p15:guide id="2" orient="horz" pos="41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A8758694-392A-4824-A648-7BF658702B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0A898917-10FD-9819-D0AB-8528C501285B}"/>
              </a:ext>
            </a:extLst>
          </p:cNvPr>
          <p:cNvSpPr txBox="1"/>
          <p:nvPr userDrawn="1"/>
        </p:nvSpPr>
        <p:spPr>
          <a:xfrm>
            <a:off x="203200" y="6611779"/>
            <a:ext cx="1347485" cy="246221"/>
          </a:xfrm>
          <a:prstGeom prst="rect">
            <a:avLst/>
          </a:prstGeom>
          <a:noFill/>
        </p:spPr>
        <p:txBody>
          <a:bodyPr wrap="none" lIns="0" rtlCol="0">
            <a:spAutoFit/>
          </a:bodyPr>
          <a:lstStyle/>
          <a:p>
            <a:r>
              <a:rPr lang="en-US" sz="1000" dirty="0">
                <a:solidFill>
                  <a:schemeClr val="bg1"/>
                </a:solidFill>
                <a:latin typeface="Karla" pitchFamily="2" charset="0"/>
                <a:ea typeface="Karla" pitchFamily="2" charset="0"/>
              </a:rPr>
              <a:t>Investor Presentation</a:t>
            </a:r>
            <a:endParaRPr lang="en-IN" sz="1000" dirty="0">
              <a:solidFill>
                <a:schemeClr val="bg1"/>
              </a:solidFill>
              <a:latin typeface="Karla" pitchFamily="2" charset="0"/>
              <a:ea typeface="Karla" pitchFamily="2" charset="0"/>
            </a:endParaRPr>
          </a:p>
        </p:txBody>
      </p:sp>
      <p:sp>
        <p:nvSpPr>
          <p:cNvPr id="16" name="Rectangle 15">
            <a:extLst>
              <a:ext uri="{FF2B5EF4-FFF2-40B4-BE49-F238E27FC236}">
                <a16:creationId xmlns:a16="http://schemas.microsoft.com/office/drawing/2014/main" id="{38DED242-BD69-4140-8D5C-E8526C7611BA}"/>
              </a:ext>
            </a:extLst>
          </p:cNvPr>
          <p:cNvSpPr/>
          <p:nvPr userDrawn="1"/>
        </p:nvSpPr>
        <p:spPr>
          <a:xfrm>
            <a:off x="0" y="0"/>
            <a:ext cx="12192000" cy="6858000"/>
          </a:xfrm>
          <a:prstGeom prst="rect">
            <a:avLst/>
          </a:prstGeom>
          <a:gradFill>
            <a:gsLst>
              <a:gs pos="0">
                <a:schemeClr val="accent1">
                  <a:lumMod val="5000"/>
                  <a:lumOff val="95000"/>
                  <a:alpha val="53000"/>
                </a:schemeClr>
              </a:gs>
              <a:gs pos="100000">
                <a:schemeClr val="bg1">
                  <a:alpha val="4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2FDC7B4D-D53B-4F64-AC34-41DF1A6717F3}"/>
              </a:ext>
            </a:extLst>
          </p:cNvPr>
          <p:cNvSpPr txBox="1"/>
          <p:nvPr userDrawn="1"/>
        </p:nvSpPr>
        <p:spPr>
          <a:xfrm>
            <a:off x="11707136" y="6404948"/>
            <a:ext cx="229048" cy="246221"/>
          </a:xfrm>
          <a:prstGeom prst="rect">
            <a:avLst/>
          </a:prstGeom>
          <a:noFill/>
        </p:spPr>
        <p:txBody>
          <a:bodyPr wrap="square" lIns="0" tIns="0" rIns="0" bIns="0" rtlCol="0" anchor="ctr">
            <a:spAutoFit/>
          </a:bodyPr>
          <a:lstStyle/>
          <a:p>
            <a:pPr algn="ctr"/>
            <a:fld id="{A45BC538-8E14-4F11-B85B-5B0F141794B2}" type="slidenum">
              <a:rPr lang="en-US" sz="1600" smtClean="0">
                <a:solidFill>
                  <a:schemeClr val="bg1">
                    <a:lumMod val="50000"/>
                  </a:schemeClr>
                </a:solidFill>
                <a:latin typeface="Roboto Cn" pitchFamily="2" charset="0"/>
                <a:ea typeface="Roboto Cn" pitchFamily="2" charset="0"/>
              </a:rPr>
              <a:t>‹#›</a:t>
            </a:fld>
            <a:endParaRPr lang="en-IN" sz="1600" dirty="0">
              <a:solidFill>
                <a:schemeClr val="bg1">
                  <a:lumMod val="50000"/>
                </a:schemeClr>
              </a:solidFill>
              <a:latin typeface="Roboto Cn" pitchFamily="2" charset="0"/>
              <a:ea typeface="Roboto Cn" pitchFamily="2" charset="0"/>
            </a:endParaRPr>
          </a:p>
        </p:txBody>
      </p:sp>
      <p:pic>
        <p:nvPicPr>
          <p:cNvPr id="18" name="Picture 17">
            <a:extLst>
              <a:ext uri="{FF2B5EF4-FFF2-40B4-BE49-F238E27FC236}">
                <a16:creationId xmlns:a16="http://schemas.microsoft.com/office/drawing/2014/main" id="{A79EE78B-6BEB-4E34-8C93-D4A2E7341C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39725" y="143710"/>
            <a:ext cx="1088571" cy="510013"/>
          </a:xfrm>
          <a:prstGeom prst="rect">
            <a:avLst/>
          </a:prstGeom>
        </p:spPr>
      </p:pic>
    </p:spTree>
    <p:extLst>
      <p:ext uri="{BB962C8B-B14F-4D97-AF65-F5344CB8AC3E}">
        <p14:creationId xmlns:p14="http://schemas.microsoft.com/office/powerpoint/2010/main" val="1605520560"/>
      </p:ext>
    </p:extLst>
  </p:cSld>
  <p:clrMapOvr>
    <a:masterClrMapping/>
  </p:clrMapOvr>
  <p:extLst>
    <p:ext uri="{DCECCB84-F9BA-43D5-87BE-67443E8EF086}">
      <p15:sldGuideLst xmlns:p15="http://schemas.microsoft.com/office/powerpoint/2012/main">
        <p15:guide id="1" orient="horz" pos="448">
          <p15:clr>
            <a:srgbClr val="FBAE40"/>
          </p15:clr>
        </p15:guide>
        <p15:guide id="2" orient="horz" pos="41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6" name="三角形 18">
            <a:extLst>
              <a:ext uri="{FF2B5EF4-FFF2-40B4-BE49-F238E27FC236}">
                <a16:creationId xmlns:a16="http://schemas.microsoft.com/office/drawing/2014/main" id="{372ECD54-8477-4BDD-8FE9-A0D7D9509C35}"/>
              </a:ext>
            </a:extLst>
          </p:cNvPr>
          <p:cNvSpPr/>
          <p:nvPr userDrawn="1"/>
        </p:nvSpPr>
        <p:spPr>
          <a:xfrm rot="15432498">
            <a:off x="10861700" y="5356209"/>
            <a:ext cx="1142437" cy="984859"/>
          </a:xfrm>
          <a:prstGeom prst="triangle">
            <a:avLst/>
          </a:prstGeom>
          <a:solidFill>
            <a:srgbClr val="27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三角形 22">
            <a:extLst>
              <a:ext uri="{FF2B5EF4-FFF2-40B4-BE49-F238E27FC236}">
                <a16:creationId xmlns:a16="http://schemas.microsoft.com/office/drawing/2014/main" id="{F155BADE-A5F9-4FC1-A4C2-3D2FE6048209}"/>
              </a:ext>
            </a:extLst>
          </p:cNvPr>
          <p:cNvSpPr/>
          <p:nvPr userDrawn="1"/>
        </p:nvSpPr>
        <p:spPr>
          <a:xfrm rot="17097558">
            <a:off x="371671" y="5727012"/>
            <a:ext cx="481955" cy="415478"/>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TextBox 17">
            <a:extLst>
              <a:ext uri="{FF2B5EF4-FFF2-40B4-BE49-F238E27FC236}">
                <a16:creationId xmlns:a16="http://schemas.microsoft.com/office/drawing/2014/main" id="{275E63C3-54B0-4B02-8A56-8934E0355B88}"/>
              </a:ext>
            </a:extLst>
          </p:cNvPr>
          <p:cNvSpPr txBox="1"/>
          <p:nvPr userDrawn="1"/>
        </p:nvSpPr>
        <p:spPr>
          <a:xfrm>
            <a:off x="11707136" y="6404948"/>
            <a:ext cx="229048" cy="246221"/>
          </a:xfrm>
          <a:prstGeom prst="rect">
            <a:avLst/>
          </a:prstGeom>
          <a:noFill/>
        </p:spPr>
        <p:txBody>
          <a:bodyPr wrap="square" lIns="0" tIns="0" rIns="0" bIns="0" rtlCol="0" anchor="ctr">
            <a:spAutoFit/>
          </a:bodyPr>
          <a:lstStyle/>
          <a:p>
            <a:pPr algn="ctr"/>
            <a:fld id="{A45BC538-8E14-4F11-B85B-5B0F141794B2}" type="slidenum">
              <a:rPr lang="en-US" sz="1600" smtClean="0">
                <a:solidFill>
                  <a:schemeClr val="bg1">
                    <a:lumMod val="85000"/>
                  </a:schemeClr>
                </a:solidFill>
                <a:latin typeface="Roboto Cn" pitchFamily="2" charset="0"/>
                <a:ea typeface="Roboto Cn" pitchFamily="2" charset="0"/>
              </a:rPr>
              <a:t>‹#›</a:t>
            </a:fld>
            <a:endParaRPr lang="en-IN" sz="1600" dirty="0">
              <a:solidFill>
                <a:schemeClr val="bg1">
                  <a:lumMod val="85000"/>
                </a:schemeClr>
              </a:solidFill>
              <a:latin typeface="Roboto Cn" pitchFamily="2" charset="0"/>
              <a:ea typeface="Roboto Cn" pitchFamily="2" charset="0"/>
            </a:endParaRPr>
          </a:p>
        </p:txBody>
      </p:sp>
      <p:pic>
        <p:nvPicPr>
          <p:cNvPr id="19" name="Picture 18">
            <a:extLst>
              <a:ext uri="{FF2B5EF4-FFF2-40B4-BE49-F238E27FC236}">
                <a16:creationId xmlns:a16="http://schemas.microsoft.com/office/drawing/2014/main" id="{9AF080F9-48A2-4C9B-A34F-5AFA8D9BE1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9725" y="143710"/>
            <a:ext cx="1088571" cy="510013"/>
          </a:xfrm>
          <a:prstGeom prst="rect">
            <a:avLst/>
          </a:prstGeom>
        </p:spPr>
      </p:pic>
    </p:spTree>
    <p:extLst>
      <p:ext uri="{BB962C8B-B14F-4D97-AF65-F5344CB8AC3E}">
        <p14:creationId xmlns:p14="http://schemas.microsoft.com/office/powerpoint/2010/main" val="1474236947"/>
      </p:ext>
    </p:extLst>
  </p:cSld>
  <p:clrMapOvr>
    <a:masterClrMapping/>
  </p:clrMapOvr>
  <p:extLst>
    <p:ext uri="{DCECCB84-F9BA-43D5-87BE-67443E8EF086}">
      <p15:sldGuideLst xmlns:p15="http://schemas.microsoft.com/office/powerpoint/2012/main">
        <p15:guide id="1" orient="horz" pos="448">
          <p15:clr>
            <a:srgbClr val="FBAE40"/>
          </p15:clr>
        </p15:guide>
        <p15:guide id="2" orient="horz" pos="41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任意形状 15">
            <a:extLst>
              <a:ext uri="{FF2B5EF4-FFF2-40B4-BE49-F238E27FC236}">
                <a16:creationId xmlns:a16="http://schemas.microsoft.com/office/drawing/2014/main" id="{68744849-0EFA-4B21-9D6F-ADE666130113}"/>
              </a:ext>
            </a:extLst>
          </p:cNvPr>
          <p:cNvSpPr/>
          <p:nvPr userDrawn="1"/>
        </p:nvSpPr>
        <p:spPr>
          <a:xfrm rot="10800000">
            <a:off x="8050133" y="6297001"/>
            <a:ext cx="4141867" cy="568319"/>
          </a:xfrm>
          <a:custGeom>
            <a:avLst/>
            <a:gdLst>
              <a:gd name="connsiteX0" fmla="*/ 5511992 w 5888477"/>
              <a:gd name="connsiteY0" fmla="*/ 807977 h 807977"/>
              <a:gd name="connsiteX1" fmla="*/ 0 w 5888477"/>
              <a:gd name="connsiteY1" fmla="*/ 807977 h 807977"/>
              <a:gd name="connsiteX2" fmla="*/ 0 w 5888477"/>
              <a:gd name="connsiteY2" fmla="*/ 0 h 807977"/>
              <a:gd name="connsiteX3" fmla="*/ 5888477 w 5888477"/>
              <a:gd name="connsiteY3" fmla="*/ 0 h 807977"/>
            </a:gdLst>
            <a:ahLst/>
            <a:cxnLst>
              <a:cxn ang="0">
                <a:pos x="connsiteX0" y="connsiteY0"/>
              </a:cxn>
              <a:cxn ang="0">
                <a:pos x="connsiteX1" y="connsiteY1"/>
              </a:cxn>
              <a:cxn ang="0">
                <a:pos x="connsiteX2" y="connsiteY2"/>
              </a:cxn>
              <a:cxn ang="0">
                <a:pos x="connsiteX3" y="connsiteY3"/>
              </a:cxn>
            </a:cxnLst>
            <a:rect l="l" t="t" r="r" b="b"/>
            <a:pathLst>
              <a:path w="5888477" h="807977">
                <a:moveTo>
                  <a:pt x="5511992" y="807977"/>
                </a:moveTo>
                <a:lnTo>
                  <a:pt x="0" y="807977"/>
                </a:lnTo>
                <a:lnTo>
                  <a:pt x="0" y="0"/>
                </a:lnTo>
                <a:lnTo>
                  <a:pt x="5888477" y="0"/>
                </a:lnTo>
                <a:close/>
              </a:path>
            </a:pathLst>
          </a:custGeom>
          <a:solidFill>
            <a:srgbClr val="274C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6" name="TextBox 5">
            <a:extLst>
              <a:ext uri="{FF2B5EF4-FFF2-40B4-BE49-F238E27FC236}">
                <a16:creationId xmlns:a16="http://schemas.microsoft.com/office/drawing/2014/main" id="{B11E85FA-8E23-4DC2-860A-F30EB4B6D585}"/>
              </a:ext>
            </a:extLst>
          </p:cNvPr>
          <p:cNvSpPr txBox="1"/>
          <p:nvPr userDrawn="1"/>
        </p:nvSpPr>
        <p:spPr>
          <a:xfrm>
            <a:off x="11495227" y="6396877"/>
            <a:ext cx="535980" cy="259783"/>
          </a:xfrm>
          <a:prstGeom prst="rect">
            <a:avLst/>
          </a:prstGeom>
          <a:noFill/>
        </p:spPr>
        <p:txBody>
          <a:bodyPr wrap="square" rtlCol="0">
            <a:spAutoFit/>
          </a:bodyPr>
          <a:lstStyle/>
          <a:p>
            <a:fld id="{89279C5E-5EA4-4979-B270-3C797A6785C2}" type="slidenum">
              <a:rPr lang="en-US" sz="1800" smtClean="0">
                <a:solidFill>
                  <a:schemeClr val="bg1">
                    <a:lumMod val="95000"/>
                  </a:schemeClr>
                </a:solidFill>
                <a:latin typeface="Plus Jakarta Sans Medium" pitchFamily="2" charset="0"/>
                <a:cs typeface="Plus Jakarta Sans Medium" pitchFamily="2" charset="0"/>
              </a:rPr>
              <a:t>‹#›</a:t>
            </a:fld>
            <a:endParaRPr lang="en-IN" sz="1800" dirty="0">
              <a:solidFill>
                <a:schemeClr val="bg1">
                  <a:lumMod val="95000"/>
                </a:schemeClr>
              </a:solidFill>
              <a:latin typeface="Plus Jakarta Sans Medium" pitchFamily="2" charset="0"/>
              <a:cs typeface="Plus Jakarta Sans Medium" pitchFamily="2" charset="0"/>
            </a:endParaRPr>
          </a:p>
        </p:txBody>
      </p:sp>
      <p:sp>
        <p:nvSpPr>
          <p:cNvPr id="7" name="三角形 24">
            <a:extLst>
              <a:ext uri="{FF2B5EF4-FFF2-40B4-BE49-F238E27FC236}">
                <a16:creationId xmlns:a16="http://schemas.microsoft.com/office/drawing/2014/main" id="{109C4DA1-BED8-4BFF-98C6-385EA1CBECD9}"/>
              </a:ext>
            </a:extLst>
          </p:cNvPr>
          <p:cNvSpPr/>
          <p:nvPr userDrawn="1"/>
        </p:nvSpPr>
        <p:spPr>
          <a:xfrm rot="17097558">
            <a:off x="11673875" y="808952"/>
            <a:ext cx="339000" cy="292241"/>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三角形 20">
            <a:extLst>
              <a:ext uri="{FF2B5EF4-FFF2-40B4-BE49-F238E27FC236}">
                <a16:creationId xmlns:a16="http://schemas.microsoft.com/office/drawing/2014/main" id="{9A725A0A-BB38-4234-815D-B582F8BBC541}"/>
              </a:ext>
            </a:extLst>
          </p:cNvPr>
          <p:cNvSpPr/>
          <p:nvPr userDrawn="1"/>
        </p:nvSpPr>
        <p:spPr>
          <a:xfrm rot="15432498">
            <a:off x="29868" y="5882251"/>
            <a:ext cx="962221" cy="829501"/>
          </a:xfrm>
          <a:prstGeom prst="triangle">
            <a:avLst/>
          </a:prstGeom>
          <a:solidFill>
            <a:srgbClr val="27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三角形 25">
            <a:extLst>
              <a:ext uri="{FF2B5EF4-FFF2-40B4-BE49-F238E27FC236}">
                <a16:creationId xmlns:a16="http://schemas.microsoft.com/office/drawing/2014/main" id="{B13E14A6-3DD2-4ED7-A86F-6DE228E3B6F0}"/>
              </a:ext>
            </a:extLst>
          </p:cNvPr>
          <p:cNvSpPr/>
          <p:nvPr userDrawn="1"/>
        </p:nvSpPr>
        <p:spPr>
          <a:xfrm rot="6632556">
            <a:off x="1016025" y="5589881"/>
            <a:ext cx="339000" cy="292241"/>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2" name="Picture 11">
            <a:extLst>
              <a:ext uri="{FF2B5EF4-FFF2-40B4-BE49-F238E27FC236}">
                <a16:creationId xmlns:a16="http://schemas.microsoft.com/office/drawing/2014/main" id="{B536FB91-482F-451E-94C3-DE3083F497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9725" y="143710"/>
            <a:ext cx="1088571" cy="510013"/>
          </a:xfrm>
          <a:prstGeom prst="rect">
            <a:avLst/>
          </a:prstGeom>
        </p:spPr>
      </p:pic>
    </p:spTree>
    <p:extLst>
      <p:ext uri="{BB962C8B-B14F-4D97-AF65-F5344CB8AC3E}">
        <p14:creationId xmlns:p14="http://schemas.microsoft.com/office/powerpoint/2010/main" val="219241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8F4076C-591E-4882-B173-6F8823DAA022}"/>
              </a:ext>
            </a:extLst>
          </p:cNvPr>
          <p:cNvGrpSpPr/>
          <p:nvPr userDrawn="1"/>
        </p:nvGrpSpPr>
        <p:grpSpPr>
          <a:xfrm>
            <a:off x="9683890" y="3875314"/>
            <a:ext cx="2508109" cy="2982686"/>
            <a:chOff x="8860060" y="2895600"/>
            <a:chExt cx="3331940" cy="3962400"/>
          </a:xfrm>
        </p:grpSpPr>
        <p:grpSp>
          <p:nvGrpSpPr>
            <p:cNvPr id="3" name="组合 1">
              <a:extLst>
                <a:ext uri="{FF2B5EF4-FFF2-40B4-BE49-F238E27FC236}">
                  <a16:creationId xmlns:a16="http://schemas.microsoft.com/office/drawing/2014/main" id="{430CDEB1-E050-48B2-A4F5-7B2A756B1FDF}"/>
                </a:ext>
              </a:extLst>
            </p:cNvPr>
            <p:cNvGrpSpPr/>
            <p:nvPr userDrawn="1"/>
          </p:nvGrpSpPr>
          <p:grpSpPr>
            <a:xfrm rot="10800000">
              <a:off x="9442831" y="2895600"/>
              <a:ext cx="2749169" cy="3962400"/>
              <a:chOff x="-3" y="-6568"/>
              <a:chExt cx="5019474" cy="7234609"/>
            </a:xfrm>
          </p:grpSpPr>
          <p:sp>
            <p:nvSpPr>
              <p:cNvPr id="4" name="直角三角形 13">
                <a:extLst>
                  <a:ext uri="{FF2B5EF4-FFF2-40B4-BE49-F238E27FC236}">
                    <a16:creationId xmlns:a16="http://schemas.microsoft.com/office/drawing/2014/main" id="{9D3BACC6-DE7E-4CA7-8166-F9271F62D77D}"/>
                  </a:ext>
                </a:extLst>
              </p:cNvPr>
              <p:cNvSpPr/>
              <p:nvPr/>
            </p:nvSpPr>
            <p:spPr>
              <a:xfrm rot="5400000">
                <a:off x="-1104288" y="1104283"/>
                <a:ext cx="7228043" cy="5019474"/>
              </a:xfrm>
              <a:prstGeom prst="rtTriangle">
                <a:avLst/>
              </a:prstGeom>
              <a:solidFill>
                <a:srgbClr val="F7941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5" name="直角三角形 16">
                <a:extLst>
                  <a:ext uri="{FF2B5EF4-FFF2-40B4-BE49-F238E27FC236}">
                    <a16:creationId xmlns:a16="http://schemas.microsoft.com/office/drawing/2014/main" id="{90E4B68F-862C-4F3C-8538-26C6CD54F371}"/>
                  </a:ext>
                </a:extLst>
              </p:cNvPr>
              <p:cNvSpPr/>
              <p:nvPr/>
            </p:nvSpPr>
            <p:spPr>
              <a:xfrm rot="5400000">
                <a:off x="-1052924" y="1046354"/>
                <a:ext cx="6891856" cy="4786011"/>
              </a:xfrm>
              <a:prstGeom prst="rtTriangle">
                <a:avLst/>
              </a:prstGeom>
              <a:solidFill>
                <a:srgbClr val="18184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sp>
          <p:nvSpPr>
            <p:cNvPr id="6" name="TextBox 5">
              <a:extLst>
                <a:ext uri="{FF2B5EF4-FFF2-40B4-BE49-F238E27FC236}">
                  <a16:creationId xmlns:a16="http://schemas.microsoft.com/office/drawing/2014/main" id="{585C605C-8D11-4614-A8F2-8C3A36F130D9}"/>
                </a:ext>
              </a:extLst>
            </p:cNvPr>
            <p:cNvSpPr txBox="1"/>
            <p:nvPr userDrawn="1"/>
          </p:nvSpPr>
          <p:spPr>
            <a:xfrm>
              <a:off x="11201401" y="6248401"/>
              <a:ext cx="762000" cy="369332"/>
            </a:xfrm>
            <a:prstGeom prst="rect">
              <a:avLst/>
            </a:prstGeom>
            <a:noFill/>
          </p:spPr>
          <p:txBody>
            <a:bodyPr wrap="square" rtlCol="0">
              <a:spAutoFit/>
            </a:bodyPr>
            <a:lstStyle/>
            <a:p>
              <a:fld id="{89279C5E-5EA4-4979-B270-3C797A6785C2}" type="slidenum">
                <a:rPr lang="en-US" sz="1800" smtClean="0">
                  <a:solidFill>
                    <a:schemeClr val="bg1"/>
                  </a:solidFill>
                  <a:latin typeface="Plus Jakarta Sans Medium" pitchFamily="2" charset="0"/>
                  <a:cs typeface="Plus Jakarta Sans Medium" pitchFamily="2" charset="0"/>
                </a:rPr>
                <a:t>‹#›</a:t>
              </a:fld>
              <a:endParaRPr lang="en-IN" sz="1800" dirty="0">
                <a:solidFill>
                  <a:schemeClr val="bg1"/>
                </a:solidFill>
                <a:latin typeface="Plus Jakarta Sans Medium" pitchFamily="2" charset="0"/>
                <a:cs typeface="Plus Jakarta Sans Medium" pitchFamily="2" charset="0"/>
              </a:endParaRPr>
            </a:p>
          </p:txBody>
        </p:sp>
        <p:sp>
          <p:nvSpPr>
            <p:cNvPr id="7" name="三角形 18">
              <a:extLst>
                <a:ext uri="{FF2B5EF4-FFF2-40B4-BE49-F238E27FC236}">
                  <a16:creationId xmlns:a16="http://schemas.microsoft.com/office/drawing/2014/main" id="{F60D8EB4-3E97-4B81-A991-93D466D5CB93}"/>
                </a:ext>
              </a:extLst>
            </p:cNvPr>
            <p:cNvSpPr/>
            <p:nvPr userDrawn="1"/>
          </p:nvSpPr>
          <p:spPr>
            <a:xfrm rot="15432498">
              <a:off x="8816907" y="5798557"/>
              <a:ext cx="625713" cy="539407"/>
            </a:xfrm>
            <a:prstGeom prst="triangle">
              <a:avLst/>
            </a:prstGeom>
            <a:solidFill>
              <a:srgbClr val="274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三角形 21">
              <a:extLst>
                <a:ext uri="{FF2B5EF4-FFF2-40B4-BE49-F238E27FC236}">
                  <a16:creationId xmlns:a16="http://schemas.microsoft.com/office/drawing/2014/main" id="{DA5BB24C-8DF0-4687-ADE9-F58CFB1ACA0F}"/>
                </a:ext>
              </a:extLst>
            </p:cNvPr>
            <p:cNvSpPr/>
            <p:nvPr userDrawn="1"/>
          </p:nvSpPr>
          <p:spPr>
            <a:xfrm rot="19219689">
              <a:off x="9876480" y="4782180"/>
              <a:ext cx="1351777" cy="1165324"/>
            </a:xfrm>
            <a:prstGeom prst="triangl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0" name="Picture 9">
            <a:extLst>
              <a:ext uri="{FF2B5EF4-FFF2-40B4-BE49-F238E27FC236}">
                <a16:creationId xmlns:a16="http://schemas.microsoft.com/office/drawing/2014/main" id="{D049A41B-83F3-45D2-934E-169C9AB20A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9725" y="143710"/>
            <a:ext cx="1088571" cy="510013"/>
          </a:xfrm>
          <a:prstGeom prst="rect">
            <a:avLst/>
          </a:prstGeom>
        </p:spPr>
      </p:pic>
    </p:spTree>
    <p:extLst>
      <p:ext uri="{BB962C8B-B14F-4D97-AF65-F5344CB8AC3E}">
        <p14:creationId xmlns:p14="http://schemas.microsoft.com/office/powerpoint/2010/main" val="1976051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矩形 1">
            <a:extLst>
              <a:ext uri="{FF2B5EF4-FFF2-40B4-BE49-F238E27FC236}">
                <a16:creationId xmlns:a16="http://schemas.microsoft.com/office/drawing/2014/main" id="{83F4B94A-9596-496C-8A28-A16E5B420A3C}"/>
              </a:ext>
            </a:extLst>
          </p:cNvPr>
          <p:cNvSpPr/>
          <p:nvPr userDrawn="1"/>
        </p:nvSpPr>
        <p:spPr>
          <a:xfrm>
            <a:off x="0" y="6651171"/>
            <a:ext cx="12192000" cy="206829"/>
          </a:xfrm>
          <a:prstGeom prst="rect">
            <a:avLst/>
          </a:prstGeom>
          <a:solidFill>
            <a:srgbClr val="1818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TextBox 3">
            <a:extLst>
              <a:ext uri="{FF2B5EF4-FFF2-40B4-BE49-F238E27FC236}">
                <a16:creationId xmlns:a16="http://schemas.microsoft.com/office/drawing/2014/main" id="{FD70200C-576D-46F9-9459-43CBDA7805B5}"/>
              </a:ext>
            </a:extLst>
          </p:cNvPr>
          <p:cNvSpPr txBox="1"/>
          <p:nvPr userDrawn="1"/>
        </p:nvSpPr>
        <p:spPr>
          <a:xfrm>
            <a:off x="11707136" y="6404948"/>
            <a:ext cx="229048" cy="246221"/>
          </a:xfrm>
          <a:prstGeom prst="rect">
            <a:avLst/>
          </a:prstGeom>
          <a:noFill/>
        </p:spPr>
        <p:txBody>
          <a:bodyPr wrap="square" lIns="0" tIns="0" rIns="0" bIns="0" rtlCol="0" anchor="ctr">
            <a:spAutoFit/>
          </a:bodyPr>
          <a:lstStyle/>
          <a:p>
            <a:pPr algn="ctr"/>
            <a:fld id="{A45BC538-8E14-4F11-B85B-5B0F141794B2}" type="slidenum">
              <a:rPr lang="en-US" sz="1600" smtClean="0">
                <a:solidFill>
                  <a:schemeClr val="bg1">
                    <a:lumMod val="85000"/>
                  </a:schemeClr>
                </a:solidFill>
                <a:latin typeface="Roboto Cn" pitchFamily="2" charset="0"/>
                <a:ea typeface="Roboto Cn" pitchFamily="2" charset="0"/>
              </a:rPr>
              <a:t>‹#›</a:t>
            </a:fld>
            <a:endParaRPr lang="en-IN" sz="1600" dirty="0">
              <a:solidFill>
                <a:schemeClr val="bg1">
                  <a:lumMod val="85000"/>
                </a:schemeClr>
              </a:solidFill>
              <a:latin typeface="Roboto Cn" pitchFamily="2" charset="0"/>
              <a:ea typeface="Roboto Cn" pitchFamily="2" charset="0"/>
            </a:endParaRPr>
          </a:p>
        </p:txBody>
      </p:sp>
      <p:pic>
        <p:nvPicPr>
          <p:cNvPr id="5" name="Picture 4">
            <a:extLst>
              <a:ext uri="{FF2B5EF4-FFF2-40B4-BE49-F238E27FC236}">
                <a16:creationId xmlns:a16="http://schemas.microsoft.com/office/drawing/2014/main" id="{4B2E311A-8DC7-46E4-9A6D-538FF374DA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9725" y="143710"/>
            <a:ext cx="1088571" cy="510013"/>
          </a:xfrm>
          <a:prstGeom prst="rect">
            <a:avLst/>
          </a:prstGeom>
        </p:spPr>
      </p:pic>
    </p:spTree>
    <p:extLst>
      <p:ext uri="{BB962C8B-B14F-4D97-AF65-F5344CB8AC3E}">
        <p14:creationId xmlns:p14="http://schemas.microsoft.com/office/powerpoint/2010/main" val="110830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088736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126">
          <p15:clr>
            <a:srgbClr val="F26B43"/>
          </p15:clr>
        </p15:guide>
        <p15:guide id="4" orient="horz" pos="126">
          <p15:clr>
            <a:srgbClr val="F26B43"/>
          </p15:clr>
        </p15:guide>
        <p15:guide id="5" orient="horz" pos="4188">
          <p15:clr>
            <a:srgbClr val="F26B43"/>
          </p15:clr>
        </p15:guide>
        <p15:guide id="6" pos="754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A7E2"/>
            </a:gs>
            <a:gs pos="67000">
              <a:srgbClr val="066EB8"/>
            </a:gs>
            <a:gs pos="100000">
              <a:srgbClr val="005D9D"/>
            </a:gs>
          </a:gsLst>
          <a:lin ang="8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71693E7-DEEA-883E-9D24-9071CC904E1D}"/>
              </a:ext>
            </a:extLst>
          </p:cNvPr>
          <p:cNvSpPr/>
          <p:nvPr/>
        </p:nvSpPr>
        <p:spPr>
          <a:xfrm flipH="1" flipV="1">
            <a:off x="0" y="0"/>
            <a:ext cx="2338754" cy="3434862"/>
          </a:xfrm>
          <a:custGeom>
            <a:avLst/>
            <a:gdLst>
              <a:gd name="connsiteX0" fmla="*/ 0 w 2338754"/>
              <a:gd name="connsiteY0" fmla="*/ 0 h 3434862"/>
              <a:gd name="connsiteX1" fmla="*/ 2338754 w 2338754"/>
              <a:gd name="connsiteY1" fmla="*/ 0 h 3434862"/>
              <a:gd name="connsiteX2" fmla="*/ 2338754 w 2338754"/>
              <a:gd name="connsiteY2" fmla="*/ 3434862 h 3434862"/>
              <a:gd name="connsiteX3" fmla="*/ 0 w 2338754"/>
              <a:gd name="connsiteY3" fmla="*/ 3434862 h 3434862"/>
            </a:gdLst>
            <a:ahLst/>
            <a:cxnLst>
              <a:cxn ang="0">
                <a:pos x="connsiteX0" y="connsiteY0"/>
              </a:cxn>
              <a:cxn ang="0">
                <a:pos x="connsiteX1" y="connsiteY1"/>
              </a:cxn>
              <a:cxn ang="0">
                <a:pos x="connsiteX2" y="connsiteY2"/>
              </a:cxn>
              <a:cxn ang="0">
                <a:pos x="connsiteX3" y="connsiteY3"/>
              </a:cxn>
            </a:cxnLst>
            <a:rect l="l" t="t" r="r" b="b"/>
            <a:pathLst>
              <a:path w="2338754" h="3434862">
                <a:moveTo>
                  <a:pt x="0" y="0"/>
                </a:moveTo>
                <a:lnTo>
                  <a:pt x="2338754" y="0"/>
                </a:lnTo>
                <a:lnTo>
                  <a:pt x="2338754" y="3434862"/>
                </a:lnTo>
                <a:lnTo>
                  <a:pt x="0" y="3434862"/>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8">
            <a:extLst>
              <a:ext uri="{FF2B5EF4-FFF2-40B4-BE49-F238E27FC236}">
                <a16:creationId xmlns:a16="http://schemas.microsoft.com/office/drawing/2014/main" id="{38E7C6DB-8433-5E97-8D82-7E174C5822EF}"/>
              </a:ext>
            </a:extLst>
          </p:cNvPr>
          <p:cNvSpPr/>
          <p:nvPr/>
        </p:nvSpPr>
        <p:spPr>
          <a:xfrm flipH="1" flipV="1">
            <a:off x="0" y="0"/>
            <a:ext cx="3434862" cy="3012831"/>
          </a:xfrm>
          <a:custGeom>
            <a:avLst/>
            <a:gdLst>
              <a:gd name="connsiteX0" fmla="*/ 0 w 3434862"/>
              <a:gd name="connsiteY0" fmla="*/ 0 h 3012831"/>
              <a:gd name="connsiteX1" fmla="*/ 3434862 w 3434862"/>
              <a:gd name="connsiteY1" fmla="*/ 0 h 3012831"/>
              <a:gd name="connsiteX2" fmla="*/ 3434862 w 3434862"/>
              <a:gd name="connsiteY2" fmla="*/ 3012831 h 3012831"/>
              <a:gd name="connsiteX3" fmla="*/ 0 w 3434862"/>
              <a:gd name="connsiteY3" fmla="*/ 3012831 h 3012831"/>
            </a:gdLst>
            <a:ahLst/>
            <a:cxnLst>
              <a:cxn ang="0">
                <a:pos x="connsiteX0" y="connsiteY0"/>
              </a:cxn>
              <a:cxn ang="0">
                <a:pos x="connsiteX1" y="connsiteY1"/>
              </a:cxn>
              <a:cxn ang="0">
                <a:pos x="connsiteX2" y="connsiteY2"/>
              </a:cxn>
              <a:cxn ang="0">
                <a:pos x="connsiteX3" y="connsiteY3"/>
              </a:cxn>
            </a:cxnLst>
            <a:rect l="l" t="t" r="r" b="b"/>
            <a:pathLst>
              <a:path w="3434862" h="3012831">
                <a:moveTo>
                  <a:pt x="0" y="0"/>
                </a:moveTo>
                <a:lnTo>
                  <a:pt x="3434862" y="0"/>
                </a:lnTo>
                <a:lnTo>
                  <a:pt x="3434862" y="3012831"/>
                </a:lnTo>
                <a:lnTo>
                  <a:pt x="0" y="3012831"/>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45" name="Group 44">
            <a:extLst>
              <a:ext uri="{FF2B5EF4-FFF2-40B4-BE49-F238E27FC236}">
                <a16:creationId xmlns:a16="http://schemas.microsoft.com/office/drawing/2014/main" id="{A7DD9695-53EF-867D-5A1C-41942F6D9A1A}"/>
              </a:ext>
            </a:extLst>
          </p:cNvPr>
          <p:cNvGrpSpPr/>
          <p:nvPr/>
        </p:nvGrpSpPr>
        <p:grpSpPr>
          <a:xfrm>
            <a:off x="9682614" y="3574127"/>
            <a:ext cx="2543636" cy="3283874"/>
            <a:chOff x="10035010" y="4029075"/>
            <a:chExt cx="2191240" cy="2828925"/>
          </a:xfrm>
        </p:grpSpPr>
        <p:sp>
          <p:nvSpPr>
            <p:cNvPr id="38" name="Freeform: Shape 37">
              <a:extLst>
                <a:ext uri="{FF2B5EF4-FFF2-40B4-BE49-F238E27FC236}">
                  <a16:creationId xmlns:a16="http://schemas.microsoft.com/office/drawing/2014/main" id="{F4BD9484-7480-219D-9D52-B5292CB79C7B}"/>
                </a:ext>
              </a:extLst>
            </p:cNvPr>
            <p:cNvSpPr/>
            <p:nvPr/>
          </p:nvSpPr>
          <p:spPr>
            <a:xfrm flipH="1">
              <a:off x="10035010" y="4160314"/>
              <a:ext cx="2165902" cy="2697686"/>
            </a:xfrm>
            <a:custGeom>
              <a:avLst/>
              <a:gdLst>
                <a:gd name="connsiteX0" fmla="*/ 863795 w 3420990"/>
                <a:gd name="connsiteY0" fmla="*/ 0 h 4543877"/>
                <a:gd name="connsiteX1" fmla="*/ 3420990 w 3420990"/>
                <a:gd name="connsiteY1" fmla="*/ 1476433 h 4543877"/>
                <a:gd name="connsiteX2" fmla="*/ 3420990 w 3420990"/>
                <a:gd name="connsiteY2" fmla="*/ 4429135 h 4543877"/>
                <a:gd name="connsiteX3" fmla="*/ 3222267 w 3420990"/>
                <a:gd name="connsiteY3" fmla="*/ 4543877 h 4543877"/>
                <a:gd name="connsiteX4" fmla="*/ 0 w 3420990"/>
                <a:gd name="connsiteY4" fmla="*/ 4543877 h 4543877"/>
                <a:gd name="connsiteX5" fmla="*/ 0 w 3420990"/>
                <a:gd name="connsiteY5" fmla="*/ 498724 h 4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990" h="4543877">
                  <a:moveTo>
                    <a:pt x="863795" y="0"/>
                  </a:moveTo>
                  <a:lnTo>
                    <a:pt x="3420990" y="1476433"/>
                  </a:lnTo>
                  <a:lnTo>
                    <a:pt x="3420990" y="4429135"/>
                  </a:lnTo>
                  <a:lnTo>
                    <a:pt x="3222267" y="4543877"/>
                  </a:lnTo>
                  <a:lnTo>
                    <a:pt x="0" y="4543877"/>
                  </a:lnTo>
                  <a:lnTo>
                    <a:pt x="0" y="498724"/>
                  </a:lnTo>
                  <a:close/>
                </a:path>
              </a:pathLst>
            </a:custGeom>
            <a:solidFill>
              <a:srgbClr val="005D9D">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Shape 38">
              <a:extLst>
                <a:ext uri="{FF2B5EF4-FFF2-40B4-BE49-F238E27FC236}">
                  <a16:creationId xmlns:a16="http://schemas.microsoft.com/office/drawing/2014/main" id="{AC893C29-D617-A20E-CD00-FB669087D57B}"/>
                </a:ext>
              </a:extLst>
            </p:cNvPr>
            <p:cNvSpPr/>
            <p:nvPr/>
          </p:nvSpPr>
          <p:spPr>
            <a:xfrm flipH="1">
              <a:off x="10850153" y="4428307"/>
              <a:ext cx="1360500" cy="2429693"/>
            </a:xfrm>
            <a:custGeom>
              <a:avLst/>
              <a:gdLst>
                <a:gd name="connsiteX0" fmla="*/ 0 w 2148877"/>
                <a:gd name="connsiteY0" fmla="*/ 0 h 4092481"/>
                <a:gd name="connsiteX1" fmla="*/ 2148877 w 2148877"/>
                <a:gd name="connsiteY1" fmla="*/ 1240684 h 4092481"/>
                <a:gd name="connsiteX2" fmla="*/ 2148877 w 2148877"/>
                <a:gd name="connsiteY2" fmla="*/ 4092481 h 4092481"/>
                <a:gd name="connsiteX3" fmla="*/ 0 w 2148877"/>
                <a:gd name="connsiteY3" fmla="*/ 4092481 h 4092481"/>
              </a:gdLst>
              <a:ahLst/>
              <a:cxnLst>
                <a:cxn ang="0">
                  <a:pos x="connsiteX0" y="connsiteY0"/>
                </a:cxn>
                <a:cxn ang="0">
                  <a:pos x="connsiteX1" y="connsiteY1"/>
                </a:cxn>
                <a:cxn ang="0">
                  <a:pos x="connsiteX2" y="connsiteY2"/>
                </a:cxn>
                <a:cxn ang="0">
                  <a:pos x="connsiteX3" y="connsiteY3"/>
                </a:cxn>
              </a:cxnLst>
              <a:rect l="l" t="t" r="r" b="b"/>
              <a:pathLst>
                <a:path w="2148877" h="4092481">
                  <a:moveTo>
                    <a:pt x="0" y="0"/>
                  </a:moveTo>
                  <a:lnTo>
                    <a:pt x="2148877" y="1240684"/>
                  </a:lnTo>
                  <a:lnTo>
                    <a:pt x="2148877" y="4092481"/>
                  </a:lnTo>
                  <a:lnTo>
                    <a:pt x="0" y="4092481"/>
                  </a:lnTo>
                  <a:close/>
                </a:path>
              </a:pathLst>
            </a:custGeom>
            <a:solidFill>
              <a:srgbClr val="68DCCF">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8DAA6F23-4A91-A352-E055-C942F054BABD}"/>
                </a:ext>
              </a:extLst>
            </p:cNvPr>
            <p:cNvSpPr/>
            <p:nvPr/>
          </p:nvSpPr>
          <p:spPr>
            <a:xfrm flipH="1">
              <a:off x="11081799" y="5615351"/>
              <a:ext cx="1144451" cy="1239195"/>
            </a:xfrm>
            <a:custGeom>
              <a:avLst/>
              <a:gdLst>
                <a:gd name="connsiteX0" fmla="*/ 596246 w 1192406"/>
                <a:gd name="connsiteY0" fmla="*/ 1376858 h 1376857"/>
                <a:gd name="connsiteX1" fmla="*/ 1192406 w 1192406"/>
                <a:gd name="connsiteY1" fmla="*/ 1032586 h 1376857"/>
                <a:gd name="connsiteX2" fmla="*/ 1192378 w 1192406"/>
                <a:gd name="connsiteY2" fmla="*/ 344186 h 1376857"/>
                <a:gd name="connsiteX3" fmla="*/ 596160 w 1192406"/>
                <a:gd name="connsiteY3" fmla="*/ 0 h 1376857"/>
                <a:gd name="connsiteX4" fmla="*/ 0 w 1192406"/>
                <a:gd name="connsiteY4" fmla="*/ 344243 h 137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406" h="1376857">
                  <a:moveTo>
                    <a:pt x="596246" y="1376858"/>
                  </a:moveTo>
                  <a:lnTo>
                    <a:pt x="1192406" y="1032586"/>
                  </a:lnTo>
                  <a:lnTo>
                    <a:pt x="1192378" y="344186"/>
                  </a:lnTo>
                  <a:lnTo>
                    <a:pt x="596160" y="0"/>
                  </a:lnTo>
                  <a:lnTo>
                    <a:pt x="0" y="344243"/>
                  </a:lnTo>
                </a:path>
              </a:pathLst>
            </a:custGeom>
            <a:noFill/>
            <a:ln w="1143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Shape 40">
              <a:extLst>
                <a:ext uri="{FF2B5EF4-FFF2-40B4-BE49-F238E27FC236}">
                  <a16:creationId xmlns:a16="http://schemas.microsoft.com/office/drawing/2014/main" id="{FEAE927F-DF30-9565-85F5-C98D963BE3F9}"/>
                </a:ext>
              </a:extLst>
            </p:cNvPr>
            <p:cNvSpPr/>
            <p:nvPr/>
          </p:nvSpPr>
          <p:spPr>
            <a:xfrm flipH="1">
              <a:off x="10858212" y="5406634"/>
              <a:ext cx="693172" cy="562916"/>
            </a:xfrm>
            <a:custGeom>
              <a:avLst/>
              <a:gdLst>
                <a:gd name="connsiteX0" fmla="*/ 738882 w 738882"/>
                <a:gd name="connsiteY0" fmla="*/ 639841 h 639881"/>
                <a:gd name="connsiteX1" fmla="*/ 738862 w 738882"/>
                <a:gd name="connsiteY1" fmla="*/ 213260 h 639881"/>
                <a:gd name="connsiteX2" fmla="*/ 369421 w 738882"/>
                <a:gd name="connsiteY2" fmla="*/ 0 h 639881"/>
                <a:gd name="connsiteX3" fmla="*/ 0 w 738882"/>
                <a:gd name="connsiteY3" fmla="*/ 213301 h 639881"/>
                <a:gd name="connsiteX4" fmla="*/ 20 w 738882"/>
                <a:gd name="connsiteY4" fmla="*/ 639882 h 63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882" h="639881">
                  <a:moveTo>
                    <a:pt x="738882" y="639841"/>
                  </a:moveTo>
                  <a:lnTo>
                    <a:pt x="738862" y="213260"/>
                  </a:lnTo>
                  <a:lnTo>
                    <a:pt x="369421" y="0"/>
                  </a:lnTo>
                  <a:lnTo>
                    <a:pt x="0" y="213301"/>
                  </a:lnTo>
                  <a:lnTo>
                    <a:pt x="20" y="639882"/>
                  </a:lnTo>
                </a:path>
              </a:pathLst>
            </a:custGeom>
            <a:noFill/>
            <a:ln w="12700" cap="rnd">
              <a:solidFill>
                <a:schemeClr val="accent1">
                  <a:lumMod val="60000"/>
                  <a:lumOff val="40000"/>
                </a:schemeClr>
              </a:solidFill>
              <a:prstDash val="lgDash"/>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3F9BE00C-BB0B-C49C-9DA2-B58EFA7ED633}"/>
                </a:ext>
              </a:extLst>
            </p:cNvPr>
            <p:cNvSpPr/>
            <p:nvPr/>
          </p:nvSpPr>
          <p:spPr>
            <a:xfrm flipH="1">
              <a:off x="11552424" y="4029075"/>
              <a:ext cx="453715" cy="425462"/>
            </a:xfrm>
            <a:prstGeom prst="ellipse">
              <a:avLst/>
            </a:prstGeom>
            <a:gradFill>
              <a:gsLst>
                <a:gs pos="100000">
                  <a:schemeClr val="accent1"/>
                </a:gs>
                <a:gs pos="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1" name="Group 10">
            <a:extLst>
              <a:ext uri="{FF2B5EF4-FFF2-40B4-BE49-F238E27FC236}">
                <a16:creationId xmlns:a16="http://schemas.microsoft.com/office/drawing/2014/main" id="{36F076C3-48CA-46B0-A612-672EB4CA94AA}"/>
              </a:ext>
            </a:extLst>
          </p:cNvPr>
          <p:cNvGrpSpPr/>
          <p:nvPr/>
        </p:nvGrpSpPr>
        <p:grpSpPr>
          <a:xfrm>
            <a:off x="3141406" y="2258962"/>
            <a:ext cx="5909187" cy="2200585"/>
            <a:chOff x="3141405" y="2258962"/>
            <a:chExt cx="5909187" cy="2200585"/>
          </a:xfrm>
          <a:solidFill>
            <a:schemeClr val="tx2">
              <a:lumMod val="75000"/>
              <a:lumOff val="25000"/>
            </a:schemeClr>
          </a:solidFill>
        </p:grpSpPr>
        <p:sp>
          <p:nvSpPr>
            <p:cNvPr id="13" name="Rectangle: Rounded Corners 12">
              <a:extLst>
                <a:ext uri="{FF2B5EF4-FFF2-40B4-BE49-F238E27FC236}">
                  <a16:creationId xmlns:a16="http://schemas.microsoft.com/office/drawing/2014/main" id="{BB29EC52-5004-479E-92FF-F75FF87AC8FE}"/>
                </a:ext>
              </a:extLst>
            </p:cNvPr>
            <p:cNvSpPr/>
            <p:nvPr/>
          </p:nvSpPr>
          <p:spPr>
            <a:xfrm>
              <a:off x="3269225" y="2258962"/>
              <a:ext cx="5653549" cy="1614949"/>
            </a:xfrm>
            <a:prstGeom prst="roundRect">
              <a:avLst>
                <a:gd name="adj" fmla="val 50000"/>
              </a:avLst>
            </a:prstGeom>
            <a:grpFill/>
            <a:ln>
              <a:solidFill>
                <a:srgbClr val="BEE4F5"/>
              </a:solidFill>
            </a:ln>
            <a:effectLst>
              <a:innerShdw blurRad="381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Roboto" pitchFamily="2" charset="0"/>
                <a:ea typeface="Roboto" pitchFamily="2" charset="0"/>
                <a:cs typeface="+mn-cs"/>
              </a:endParaRPr>
            </a:p>
          </p:txBody>
        </p:sp>
        <p:sp>
          <p:nvSpPr>
            <p:cNvPr id="14" name="TextBox 13">
              <a:extLst>
                <a:ext uri="{FF2B5EF4-FFF2-40B4-BE49-F238E27FC236}">
                  <a16:creationId xmlns:a16="http://schemas.microsoft.com/office/drawing/2014/main" id="{01531252-05B0-4E93-8C15-6CB22854A232}"/>
                </a:ext>
              </a:extLst>
            </p:cNvPr>
            <p:cNvSpPr txBox="1"/>
            <p:nvPr/>
          </p:nvSpPr>
          <p:spPr>
            <a:xfrm>
              <a:off x="4801152" y="2475266"/>
              <a:ext cx="2589695" cy="503903"/>
            </a:xfrm>
            <a:prstGeom prst="rect">
              <a:avLst/>
            </a:prstGeom>
            <a:grpFill/>
          </p:spPr>
          <p:txBody>
            <a:bodyPr wrap="none" lIns="0" rtlCol="0">
              <a:noAutofit/>
              <a:scene3d>
                <a:camera prst="orthographicFront"/>
                <a:lightRig rig="threePt" dir="t"/>
              </a:scene3d>
              <a:sp3d extrusionH="57150">
                <a:bevelT h="25400" prst="softRound"/>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err="1">
                  <a:ln>
                    <a:noFill/>
                  </a:ln>
                  <a:solidFill>
                    <a:prstClr val="white"/>
                  </a:solidFill>
                  <a:effectLst/>
                  <a:uLnTx/>
                  <a:uFillTx/>
                  <a:latin typeface="Peugeot" pitchFamily="50" charset="0"/>
                  <a:ea typeface="Roboto" pitchFamily="2" charset="0"/>
                  <a:cs typeface="Plus Jakarta Sans" pitchFamily="34" charset="-120"/>
                </a:rPr>
                <a:t>ParseQri</a:t>
              </a:r>
              <a:endParaRPr kumimoji="0" lang="en-US" sz="3000" b="1" i="0" u="none" strike="noStrike" kern="1200" cap="none" spc="0" normalizeH="0" baseline="0" noProof="0" dirty="0">
                <a:ln>
                  <a:noFill/>
                </a:ln>
                <a:solidFill>
                  <a:prstClr val="white"/>
                </a:solidFill>
                <a:effectLst/>
                <a:uLnTx/>
                <a:uFillTx/>
                <a:latin typeface="Peugeot" pitchFamily="50" charset="0"/>
                <a:ea typeface="Roboto" pitchFamily="2" charset="0"/>
                <a:cs typeface="Plus Jakarta Sans" pitchFamily="34" charset="-120"/>
              </a:endParaRPr>
            </a:p>
          </p:txBody>
        </p:sp>
        <p:sp>
          <p:nvSpPr>
            <p:cNvPr id="15" name="TextBox 14">
              <a:extLst>
                <a:ext uri="{FF2B5EF4-FFF2-40B4-BE49-F238E27FC236}">
                  <a16:creationId xmlns:a16="http://schemas.microsoft.com/office/drawing/2014/main" id="{A6B4A72B-05F0-4A85-8F77-198459BF0811}"/>
                </a:ext>
              </a:extLst>
            </p:cNvPr>
            <p:cNvSpPr txBox="1"/>
            <p:nvPr/>
          </p:nvSpPr>
          <p:spPr>
            <a:xfrm>
              <a:off x="3640392" y="2989042"/>
              <a:ext cx="4911214" cy="707886"/>
            </a:xfrm>
            <a:prstGeom prst="rect">
              <a:avLst/>
            </a:prstGeom>
            <a:grp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Peugeot" pitchFamily="50" charset="0"/>
                  <a:ea typeface="Roboto" pitchFamily="2" charset="0"/>
                  <a:cs typeface="Plus Jakarta Sans" pitchFamily="34" charset="-120"/>
                </a:rPr>
                <a:t>Text-to-SQL AI Tool for Human-Friendly Data Interaction</a:t>
              </a:r>
            </a:p>
          </p:txBody>
        </p:sp>
        <p:sp>
          <p:nvSpPr>
            <p:cNvPr id="16" name="TextBox 15">
              <a:extLst>
                <a:ext uri="{FF2B5EF4-FFF2-40B4-BE49-F238E27FC236}">
                  <a16:creationId xmlns:a16="http://schemas.microsoft.com/office/drawing/2014/main" id="{E811F88A-34A1-4506-A3BD-976AA45081E9}"/>
                </a:ext>
              </a:extLst>
            </p:cNvPr>
            <p:cNvSpPr txBox="1"/>
            <p:nvPr/>
          </p:nvSpPr>
          <p:spPr>
            <a:xfrm>
              <a:off x="3141405" y="4090215"/>
              <a:ext cx="59091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Roboto" pitchFamily="2" charset="0"/>
                  <a:ea typeface="Roboto" pitchFamily="2" charset="0"/>
                  <a:cs typeface="+mn-cs"/>
                </a:rPr>
                <a:t>Powered by C2C Advanced Systems</a:t>
              </a:r>
            </a:p>
          </p:txBody>
        </p:sp>
      </p:grpSp>
      <p:pic>
        <p:nvPicPr>
          <p:cNvPr id="6" name="Picture 5">
            <a:extLst>
              <a:ext uri="{FF2B5EF4-FFF2-40B4-BE49-F238E27FC236}">
                <a16:creationId xmlns:a16="http://schemas.microsoft.com/office/drawing/2014/main" id="{B0CE952B-78C2-81AA-F403-8F9B3628A41A}"/>
              </a:ext>
            </a:extLst>
          </p:cNvPr>
          <p:cNvPicPr>
            <a:picLocks noChangeAspect="1"/>
          </p:cNvPicPr>
          <p:nvPr/>
        </p:nvPicPr>
        <p:blipFill>
          <a:blip r:embed="rId2"/>
          <a:stretch>
            <a:fillRect/>
          </a:stretch>
        </p:blipFill>
        <p:spPr>
          <a:xfrm>
            <a:off x="532901" y="369091"/>
            <a:ext cx="1356283" cy="673359"/>
          </a:xfrm>
          <a:prstGeom prst="rect">
            <a:avLst/>
          </a:prstGeom>
        </p:spPr>
      </p:pic>
    </p:spTree>
    <p:extLst>
      <p:ext uri="{BB962C8B-B14F-4D97-AF65-F5344CB8AC3E}">
        <p14:creationId xmlns:p14="http://schemas.microsoft.com/office/powerpoint/2010/main" val="33165094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706460-D832-4D38-B785-CB9AD4D20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3826055">
            <a:off x="375134" y="5599106"/>
            <a:ext cx="751363" cy="876591"/>
          </a:xfrm>
          <a:prstGeom prst="rect">
            <a:avLst/>
          </a:prstGeom>
        </p:spPr>
      </p:pic>
      <p:sp>
        <p:nvSpPr>
          <p:cNvPr id="4" name="Isosceles Triangle 3">
            <a:extLst>
              <a:ext uri="{FF2B5EF4-FFF2-40B4-BE49-F238E27FC236}">
                <a16:creationId xmlns:a16="http://schemas.microsoft.com/office/drawing/2014/main" id="{E8517020-55D6-4685-BCCD-8F49FFA5A7AC}"/>
              </a:ext>
            </a:extLst>
          </p:cNvPr>
          <p:cNvSpPr/>
          <p:nvPr/>
        </p:nvSpPr>
        <p:spPr>
          <a:xfrm rot="1166434">
            <a:off x="1387836" y="6083553"/>
            <a:ext cx="520602" cy="448795"/>
          </a:xfrm>
          <a:prstGeom prst="triangle">
            <a:avLst/>
          </a:prstGeom>
          <a:solidFill>
            <a:schemeClr val="bg1">
              <a:lumMod val="75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FD9FA0AF-5EFA-4C1B-A3C0-441E4C6C812D}"/>
              </a:ext>
            </a:extLst>
          </p:cNvPr>
          <p:cNvSpPr txBox="1"/>
          <p:nvPr/>
        </p:nvSpPr>
        <p:spPr>
          <a:xfrm>
            <a:off x="528099" y="434025"/>
            <a:ext cx="217399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Peugeot" pitchFamily="50" charset="0"/>
                <a:ea typeface="Plus Jakarta Sans" pitchFamily="34" charset="-122"/>
                <a:cs typeface="Plus Jakarta Sans" pitchFamily="34" charset="-120"/>
              </a:rPr>
              <a:t>Introduction</a:t>
            </a:r>
          </a:p>
        </p:txBody>
      </p:sp>
      <p:sp>
        <p:nvSpPr>
          <p:cNvPr id="6" name="Content Placeholder 2">
            <a:extLst>
              <a:ext uri="{FF2B5EF4-FFF2-40B4-BE49-F238E27FC236}">
                <a16:creationId xmlns:a16="http://schemas.microsoft.com/office/drawing/2014/main" id="{967618EB-E3A7-4562-AB4A-38B551706448}"/>
              </a:ext>
            </a:extLst>
          </p:cNvPr>
          <p:cNvSpPr txBox="1">
            <a:spLocks/>
          </p:cNvSpPr>
          <p:nvPr/>
        </p:nvSpPr>
        <p:spPr>
          <a:xfrm>
            <a:off x="528099" y="957245"/>
            <a:ext cx="11043415" cy="13178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IN" sz="1600" b="0" i="0" u="none" strike="noStrike" kern="1200" cap="none" spc="0" normalizeH="0" baseline="0" noProof="0" dirty="0" err="1">
                <a:ln>
                  <a:noFill/>
                </a:ln>
                <a:solidFill>
                  <a:prstClr val="black">
                    <a:lumMod val="75000"/>
                    <a:lumOff val="25000"/>
                  </a:prstClr>
                </a:solidFill>
                <a:effectLst/>
                <a:uLnTx/>
                <a:uFillTx/>
                <a:latin typeface="Roboto" pitchFamily="2" charset="0"/>
                <a:ea typeface="Roboto" pitchFamily="2" charset="0"/>
                <a:cs typeface="+mn-cs"/>
              </a:rPr>
              <a:t>ParseQri</a:t>
            </a:r>
            <a:r>
              <a:rPr kumimoji="0" lang="en-IN"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is an advanced Text-to-SQL AI tool designed to seamlessly convert natural language queries into SQL queries. It integrates multiple intelligent agents to process, validate, and visualize data, bridging the gap between human language and database interactions.</a:t>
            </a:r>
          </a:p>
        </p:txBody>
      </p:sp>
      <p:sp>
        <p:nvSpPr>
          <p:cNvPr id="7" name="Title 1">
            <a:extLst>
              <a:ext uri="{FF2B5EF4-FFF2-40B4-BE49-F238E27FC236}">
                <a16:creationId xmlns:a16="http://schemas.microsoft.com/office/drawing/2014/main" id="{C4A1E1C5-FECC-428B-8B7D-767D15D2226D}"/>
              </a:ext>
            </a:extLst>
          </p:cNvPr>
          <p:cNvSpPr txBox="1">
            <a:spLocks/>
          </p:cNvSpPr>
          <p:nvPr/>
        </p:nvSpPr>
        <p:spPr>
          <a:xfrm>
            <a:off x="528099" y="2427610"/>
            <a:ext cx="2866952" cy="42047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Peugeot" pitchFamily="50" charset="0"/>
                <a:ea typeface="+mj-ea"/>
                <a:cs typeface="+mj-cs"/>
              </a:rPr>
              <a:t>Problem Statement</a:t>
            </a:r>
          </a:p>
        </p:txBody>
      </p:sp>
      <p:sp>
        <p:nvSpPr>
          <p:cNvPr id="8" name="Content Placeholder 2">
            <a:extLst>
              <a:ext uri="{FF2B5EF4-FFF2-40B4-BE49-F238E27FC236}">
                <a16:creationId xmlns:a16="http://schemas.microsoft.com/office/drawing/2014/main" id="{7A39FF73-C3C1-49CA-BBA2-51D68345855B}"/>
              </a:ext>
            </a:extLst>
          </p:cNvPr>
          <p:cNvSpPr txBox="1">
            <a:spLocks/>
          </p:cNvSpPr>
          <p:nvPr/>
        </p:nvSpPr>
        <p:spPr>
          <a:xfrm>
            <a:off x="636956" y="2842317"/>
            <a:ext cx="5948901" cy="25987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Text-to-SQL conversion is challenging due to:</a:t>
            </a:r>
          </a:p>
          <a:p>
            <a:pPr marL="228600" marR="0" lvl="0" indent="-228600" algn="just"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Ambiguity in natural language queries</a:t>
            </a:r>
          </a:p>
          <a:p>
            <a:pPr marL="228600" marR="0" lvl="0" indent="-228600" algn="just"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Complex database schemas</a:t>
            </a:r>
          </a:p>
          <a:p>
            <a:pPr marL="228600" marR="0" lvl="0" indent="-228600" algn="just"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Need for human-friendly output and visualizations</a:t>
            </a:r>
          </a:p>
          <a:p>
            <a:pPr marL="228600" marR="0" lvl="0" indent="-228600" algn="just"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Efficiency in handling large datasets</a:t>
            </a:r>
          </a:p>
        </p:txBody>
      </p:sp>
    </p:spTree>
    <p:extLst>
      <p:ext uri="{BB962C8B-B14F-4D97-AF65-F5344CB8AC3E}">
        <p14:creationId xmlns:p14="http://schemas.microsoft.com/office/powerpoint/2010/main" val="6918901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706460-D832-4D38-B785-CB9AD4D20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3826055">
            <a:off x="375134" y="5599106"/>
            <a:ext cx="751363" cy="876591"/>
          </a:xfrm>
          <a:prstGeom prst="rect">
            <a:avLst/>
          </a:prstGeom>
        </p:spPr>
      </p:pic>
      <p:sp>
        <p:nvSpPr>
          <p:cNvPr id="4" name="Isosceles Triangle 3">
            <a:extLst>
              <a:ext uri="{FF2B5EF4-FFF2-40B4-BE49-F238E27FC236}">
                <a16:creationId xmlns:a16="http://schemas.microsoft.com/office/drawing/2014/main" id="{E8517020-55D6-4685-BCCD-8F49FFA5A7AC}"/>
              </a:ext>
            </a:extLst>
          </p:cNvPr>
          <p:cNvSpPr/>
          <p:nvPr/>
        </p:nvSpPr>
        <p:spPr>
          <a:xfrm rot="1166434">
            <a:off x="1387836" y="6083553"/>
            <a:ext cx="520602" cy="448795"/>
          </a:xfrm>
          <a:prstGeom prst="triangle">
            <a:avLst/>
          </a:prstGeom>
          <a:solidFill>
            <a:schemeClr val="bg1">
              <a:lumMod val="75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Title 1">
            <a:extLst>
              <a:ext uri="{FF2B5EF4-FFF2-40B4-BE49-F238E27FC236}">
                <a16:creationId xmlns:a16="http://schemas.microsoft.com/office/drawing/2014/main" id="{C4A1E1C5-FECC-428B-8B7D-767D15D2226D}"/>
              </a:ext>
            </a:extLst>
          </p:cNvPr>
          <p:cNvSpPr txBox="1">
            <a:spLocks/>
          </p:cNvSpPr>
          <p:nvPr/>
        </p:nvSpPr>
        <p:spPr>
          <a:xfrm>
            <a:off x="528099" y="511728"/>
            <a:ext cx="2866952" cy="42047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Peugeot" pitchFamily="50" charset="0"/>
                <a:ea typeface="+mj-ea"/>
                <a:cs typeface="+mj-cs"/>
              </a:rPr>
              <a:t>Solution - </a:t>
            </a:r>
            <a:r>
              <a:rPr kumimoji="0" lang="en-IN" sz="2000" b="1" i="0" u="none" strike="noStrike" kern="1200" cap="none" spc="0" normalizeH="0" baseline="0" noProof="0" dirty="0" err="1">
                <a:ln>
                  <a:noFill/>
                </a:ln>
                <a:solidFill>
                  <a:prstClr val="black"/>
                </a:solidFill>
                <a:effectLst/>
                <a:uLnTx/>
                <a:uFillTx/>
                <a:latin typeface="Peugeot" pitchFamily="50" charset="0"/>
                <a:ea typeface="+mj-ea"/>
                <a:cs typeface="+mj-cs"/>
              </a:rPr>
              <a:t>ParseQri</a:t>
            </a:r>
            <a:endParaRPr kumimoji="0" lang="en-IN" sz="2000" b="1" i="0" u="none" strike="noStrike" kern="1200" cap="none" spc="0" normalizeH="0" baseline="0" noProof="0" dirty="0">
              <a:ln>
                <a:noFill/>
              </a:ln>
              <a:solidFill>
                <a:prstClr val="black"/>
              </a:solidFill>
              <a:effectLst/>
              <a:uLnTx/>
              <a:uFillTx/>
              <a:latin typeface="Peugeot" pitchFamily="50" charset="0"/>
              <a:ea typeface="+mj-ea"/>
              <a:cs typeface="+mj-cs"/>
            </a:endParaRPr>
          </a:p>
        </p:txBody>
      </p:sp>
      <p:sp>
        <p:nvSpPr>
          <p:cNvPr id="9" name="Content Placeholder 2">
            <a:extLst>
              <a:ext uri="{FF2B5EF4-FFF2-40B4-BE49-F238E27FC236}">
                <a16:creationId xmlns:a16="http://schemas.microsoft.com/office/drawing/2014/main" id="{B6983EC4-0623-4C81-BF98-30C0A7EFBF72}"/>
              </a:ext>
            </a:extLst>
          </p:cNvPr>
          <p:cNvSpPr txBox="1">
            <a:spLocks/>
          </p:cNvSpPr>
          <p:nvPr/>
        </p:nvSpPr>
        <p:spPr>
          <a:xfrm>
            <a:off x="528100" y="1072796"/>
            <a:ext cx="9029558" cy="25956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err="1">
                <a:ln>
                  <a:noFill/>
                </a:ln>
                <a:solidFill>
                  <a:prstClr val="black">
                    <a:lumMod val="75000"/>
                    <a:lumOff val="25000"/>
                  </a:prstClr>
                </a:solidFill>
                <a:effectLst/>
                <a:uLnTx/>
                <a:uFillTx/>
                <a:latin typeface="Roboto" pitchFamily="2" charset="0"/>
                <a:ea typeface="Roboto" pitchFamily="2" charset="0"/>
                <a:cs typeface="+mn-cs"/>
              </a:rPr>
              <a:t>ParseQri</a:t>
            </a: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leverages a multi-agent system to address these challenges. The key agents include:</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Query Intent Classifier</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SQL Generation Agent</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SQL Validation Agent</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Visualization Agent</a:t>
            </a:r>
          </a:p>
          <a:p>
            <a:pPr marL="0" marR="0" lvl="0" indent="0" algn="just"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err="1">
                <a:ln>
                  <a:noFill/>
                </a:ln>
                <a:solidFill>
                  <a:prstClr val="black">
                    <a:lumMod val="75000"/>
                    <a:lumOff val="25000"/>
                  </a:prstClr>
                </a:solidFill>
                <a:effectLst/>
                <a:uLnTx/>
                <a:uFillTx/>
                <a:latin typeface="Roboto" pitchFamily="2" charset="0"/>
                <a:ea typeface="Roboto" pitchFamily="2" charset="0"/>
                <a:cs typeface="+mn-cs"/>
              </a:rPr>
              <a:t>ParseQri</a:t>
            </a: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enhances accuracy, adaptability, and usability in</a:t>
            </a:r>
          </a:p>
          <a:p>
            <a:pPr marL="0" marR="0" lvl="0" indent="0" algn="just"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text-to-SQL applications.</a:t>
            </a:r>
          </a:p>
        </p:txBody>
      </p:sp>
      <p:sp>
        <p:nvSpPr>
          <p:cNvPr id="10" name="Title 1">
            <a:extLst>
              <a:ext uri="{FF2B5EF4-FFF2-40B4-BE49-F238E27FC236}">
                <a16:creationId xmlns:a16="http://schemas.microsoft.com/office/drawing/2014/main" id="{C4DDBE23-5505-4121-81BD-C9EA43683B3D}"/>
              </a:ext>
            </a:extLst>
          </p:cNvPr>
          <p:cNvSpPr txBox="1">
            <a:spLocks/>
          </p:cNvSpPr>
          <p:nvPr/>
        </p:nvSpPr>
        <p:spPr>
          <a:xfrm>
            <a:off x="1980763" y="4038958"/>
            <a:ext cx="2866952" cy="42047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000" b="1" i="0" u="none" strike="noStrike" kern="1200" cap="none" spc="0" normalizeH="0" baseline="0" noProof="0" dirty="0">
                <a:ln>
                  <a:noFill/>
                </a:ln>
                <a:solidFill>
                  <a:prstClr val="black"/>
                </a:solidFill>
                <a:effectLst/>
                <a:uLnTx/>
                <a:uFillTx/>
                <a:latin typeface="Peugeot" pitchFamily="50" charset="0"/>
                <a:ea typeface="+mj-ea"/>
                <a:cs typeface="+mj-cs"/>
              </a:rPr>
              <a:t>System Workflow</a:t>
            </a:r>
          </a:p>
        </p:txBody>
      </p:sp>
      <p:sp>
        <p:nvSpPr>
          <p:cNvPr id="11" name="Content Placeholder 2">
            <a:extLst>
              <a:ext uri="{FF2B5EF4-FFF2-40B4-BE49-F238E27FC236}">
                <a16:creationId xmlns:a16="http://schemas.microsoft.com/office/drawing/2014/main" id="{AA542019-5922-4BDA-A125-3FF17E0CC2F9}"/>
              </a:ext>
            </a:extLst>
          </p:cNvPr>
          <p:cNvSpPr txBox="1">
            <a:spLocks/>
          </p:cNvSpPr>
          <p:nvPr/>
        </p:nvSpPr>
        <p:spPr>
          <a:xfrm>
            <a:off x="2017494" y="4596233"/>
            <a:ext cx="4677228" cy="20454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err="1">
                <a:ln>
                  <a:noFill/>
                </a:ln>
                <a:solidFill>
                  <a:prstClr val="black"/>
                </a:solidFill>
                <a:effectLst/>
                <a:uLnTx/>
                <a:uFillTx/>
                <a:latin typeface="Roboto" pitchFamily="2" charset="0"/>
                <a:ea typeface="Roboto" pitchFamily="2" charset="0"/>
                <a:cs typeface="+mn-cs"/>
              </a:rPr>
              <a:t>ParseQri's</a:t>
            </a:r>
            <a:r>
              <a:rPr kumimoji="0" lang="en-US" sz="1600" b="1" i="0" u="none" strike="noStrike" kern="1200" cap="none" spc="0" normalizeH="0" baseline="0" noProof="0" dirty="0">
                <a:ln>
                  <a:noFill/>
                </a:ln>
                <a:solidFill>
                  <a:prstClr val="black"/>
                </a:solidFill>
                <a:effectLst/>
                <a:uLnTx/>
                <a:uFillTx/>
                <a:latin typeface="Roboto" pitchFamily="2" charset="0"/>
                <a:ea typeface="Roboto" pitchFamily="2" charset="0"/>
                <a:cs typeface="+mn-cs"/>
              </a:rPr>
              <a:t> architecture includes:</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Roboto" pitchFamily="2" charset="0"/>
                <a:ea typeface="Roboto" pitchFamily="2" charset="0"/>
                <a:cs typeface="+mn-cs"/>
              </a:rPr>
              <a:t> Collaborative Multi-Agent Framework</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Roboto" pitchFamily="2" charset="0"/>
                <a:ea typeface="Roboto" pitchFamily="2" charset="0"/>
                <a:cs typeface="+mn-cs"/>
              </a:rPr>
              <a:t> Data Integration from CSV to SQL</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Roboto" pitchFamily="2" charset="0"/>
                <a:ea typeface="Roboto" pitchFamily="2" charset="0"/>
                <a:cs typeface="+mn-cs"/>
              </a:rPr>
              <a:t> Query Processing and Validation</a:t>
            </a:r>
          </a:p>
          <a:p>
            <a:pPr marL="228600" marR="0" lvl="0" indent="-228600" algn="just" defTabSz="914400" rtl="0" eaLnBrk="1" fontAlgn="auto" latinLnBrk="0" hangingPunct="1">
              <a:lnSpc>
                <a:spcPct val="100000"/>
              </a:lnSpc>
              <a:spcBef>
                <a:spcPts val="1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Roboto" pitchFamily="2" charset="0"/>
                <a:ea typeface="Roboto" pitchFamily="2" charset="0"/>
                <a:cs typeface="+mn-cs"/>
              </a:rPr>
              <a:t> Response Formatting and Visualization</a:t>
            </a:r>
          </a:p>
        </p:txBody>
      </p:sp>
      <p:pic>
        <p:nvPicPr>
          <p:cNvPr id="12" name="Picture 11">
            <a:extLst>
              <a:ext uri="{FF2B5EF4-FFF2-40B4-BE49-F238E27FC236}">
                <a16:creationId xmlns:a16="http://schemas.microsoft.com/office/drawing/2014/main" id="{06384DE3-1085-49D5-8528-F8BA955A37C2}"/>
              </a:ext>
            </a:extLst>
          </p:cNvPr>
          <p:cNvPicPr>
            <a:picLocks noChangeAspect="1"/>
          </p:cNvPicPr>
          <p:nvPr/>
        </p:nvPicPr>
        <p:blipFill>
          <a:blip r:embed="rId3">
            <a:extLst>
              <a:ext uri="{28A0092B-C50C-407E-A947-70E740481C1C}">
                <a14:useLocalDpi xmlns:a14="http://schemas.microsoft.com/office/drawing/2010/main" val="0"/>
              </a:ext>
            </a:extLst>
          </a:blip>
          <a:srcRect b="10913"/>
          <a:stretch/>
        </p:blipFill>
        <p:spPr>
          <a:xfrm>
            <a:off x="6694722" y="2015412"/>
            <a:ext cx="5066575" cy="4471036"/>
          </a:xfrm>
          <a:prstGeom prst="rect">
            <a:avLst/>
          </a:prstGeom>
        </p:spPr>
      </p:pic>
    </p:spTree>
    <p:extLst>
      <p:ext uri="{BB962C8B-B14F-4D97-AF65-F5344CB8AC3E}">
        <p14:creationId xmlns:p14="http://schemas.microsoft.com/office/powerpoint/2010/main" val="130233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A7E2"/>
            </a:gs>
            <a:gs pos="67000">
              <a:srgbClr val="066EB8"/>
            </a:gs>
            <a:gs pos="100000">
              <a:srgbClr val="005D9D"/>
            </a:gs>
          </a:gsLst>
          <a:lin ang="8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71693E7-DEEA-883E-9D24-9071CC904E1D}"/>
              </a:ext>
            </a:extLst>
          </p:cNvPr>
          <p:cNvSpPr/>
          <p:nvPr/>
        </p:nvSpPr>
        <p:spPr>
          <a:xfrm flipH="1" flipV="1">
            <a:off x="0" y="0"/>
            <a:ext cx="2338754" cy="3434862"/>
          </a:xfrm>
          <a:custGeom>
            <a:avLst/>
            <a:gdLst>
              <a:gd name="connsiteX0" fmla="*/ 0 w 2338754"/>
              <a:gd name="connsiteY0" fmla="*/ 0 h 3434862"/>
              <a:gd name="connsiteX1" fmla="*/ 2338754 w 2338754"/>
              <a:gd name="connsiteY1" fmla="*/ 0 h 3434862"/>
              <a:gd name="connsiteX2" fmla="*/ 2338754 w 2338754"/>
              <a:gd name="connsiteY2" fmla="*/ 3434862 h 3434862"/>
              <a:gd name="connsiteX3" fmla="*/ 0 w 2338754"/>
              <a:gd name="connsiteY3" fmla="*/ 3434862 h 3434862"/>
            </a:gdLst>
            <a:ahLst/>
            <a:cxnLst>
              <a:cxn ang="0">
                <a:pos x="connsiteX0" y="connsiteY0"/>
              </a:cxn>
              <a:cxn ang="0">
                <a:pos x="connsiteX1" y="connsiteY1"/>
              </a:cxn>
              <a:cxn ang="0">
                <a:pos x="connsiteX2" y="connsiteY2"/>
              </a:cxn>
              <a:cxn ang="0">
                <a:pos x="connsiteX3" y="connsiteY3"/>
              </a:cxn>
            </a:cxnLst>
            <a:rect l="l" t="t" r="r" b="b"/>
            <a:pathLst>
              <a:path w="2338754" h="3434862">
                <a:moveTo>
                  <a:pt x="0" y="0"/>
                </a:moveTo>
                <a:lnTo>
                  <a:pt x="2338754" y="0"/>
                </a:lnTo>
                <a:lnTo>
                  <a:pt x="2338754" y="3434862"/>
                </a:lnTo>
                <a:lnTo>
                  <a:pt x="0" y="3434862"/>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8">
            <a:extLst>
              <a:ext uri="{FF2B5EF4-FFF2-40B4-BE49-F238E27FC236}">
                <a16:creationId xmlns:a16="http://schemas.microsoft.com/office/drawing/2014/main" id="{38E7C6DB-8433-5E97-8D82-7E174C5822EF}"/>
              </a:ext>
            </a:extLst>
          </p:cNvPr>
          <p:cNvSpPr/>
          <p:nvPr/>
        </p:nvSpPr>
        <p:spPr>
          <a:xfrm flipH="1" flipV="1">
            <a:off x="0" y="0"/>
            <a:ext cx="3434862" cy="3012831"/>
          </a:xfrm>
          <a:custGeom>
            <a:avLst/>
            <a:gdLst>
              <a:gd name="connsiteX0" fmla="*/ 0 w 3434862"/>
              <a:gd name="connsiteY0" fmla="*/ 0 h 3012831"/>
              <a:gd name="connsiteX1" fmla="*/ 3434862 w 3434862"/>
              <a:gd name="connsiteY1" fmla="*/ 0 h 3012831"/>
              <a:gd name="connsiteX2" fmla="*/ 3434862 w 3434862"/>
              <a:gd name="connsiteY2" fmla="*/ 3012831 h 3012831"/>
              <a:gd name="connsiteX3" fmla="*/ 0 w 3434862"/>
              <a:gd name="connsiteY3" fmla="*/ 3012831 h 3012831"/>
            </a:gdLst>
            <a:ahLst/>
            <a:cxnLst>
              <a:cxn ang="0">
                <a:pos x="connsiteX0" y="connsiteY0"/>
              </a:cxn>
              <a:cxn ang="0">
                <a:pos x="connsiteX1" y="connsiteY1"/>
              </a:cxn>
              <a:cxn ang="0">
                <a:pos x="connsiteX2" y="connsiteY2"/>
              </a:cxn>
              <a:cxn ang="0">
                <a:pos x="connsiteX3" y="connsiteY3"/>
              </a:cxn>
            </a:cxnLst>
            <a:rect l="l" t="t" r="r" b="b"/>
            <a:pathLst>
              <a:path w="3434862" h="3012831">
                <a:moveTo>
                  <a:pt x="0" y="0"/>
                </a:moveTo>
                <a:lnTo>
                  <a:pt x="3434862" y="0"/>
                </a:lnTo>
                <a:lnTo>
                  <a:pt x="3434862" y="3012831"/>
                </a:lnTo>
                <a:lnTo>
                  <a:pt x="0" y="3012831"/>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CE49FAA0-2930-3017-1BCE-8419DC6B6E0A}"/>
              </a:ext>
            </a:extLst>
          </p:cNvPr>
          <p:cNvSpPr/>
          <p:nvPr/>
        </p:nvSpPr>
        <p:spPr>
          <a:xfrm flipH="1" flipV="1">
            <a:off x="416565" y="421819"/>
            <a:ext cx="2886808" cy="2321169"/>
          </a:xfrm>
          <a:custGeom>
            <a:avLst/>
            <a:gdLst>
              <a:gd name="connsiteX0" fmla="*/ 0 w 2886808"/>
              <a:gd name="connsiteY0" fmla="*/ 0 h 2321169"/>
              <a:gd name="connsiteX1" fmla="*/ 2886808 w 2886808"/>
              <a:gd name="connsiteY1" fmla="*/ 0 h 2321169"/>
              <a:gd name="connsiteX2" fmla="*/ 2886808 w 2886808"/>
              <a:gd name="connsiteY2" fmla="*/ 2321169 h 2321169"/>
              <a:gd name="connsiteX3" fmla="*/ 0 w 2886808"/>
              <a:gd name="connsiteY3" fmla="*/ 2321169 h 2321169"/>
            </a:gdLst>
            <a:ahLst/>
            <a:cxnLst>
              <a:cxn ang="0">
                <a:pos x="connsiteX0" y="connsiteY0"/>
              </a:cxn>
              <a:cxn ang="0">
                <a:pos x="connsiteX1" y="connsiteY1"/>
              </a:cxn>
              <a:cxn ang="0">
                <a:pos x="connsiteX2" y="connsiteY2"/>
              </a:cxn>
              <a:cxn ang="0">
                <a:pos x="connsiteX3" y="connsiteY3"/>
              </a:cxn>
            </a:cxnLst>
            <a:rect l="l" t="t" r="r" b="b"/>
            <a:pathLst>
              <a:path w="2886808" h="2321169">
                <a:moveTo>
                  <a:pt x="0" y="0"/>
                </a:moveTo>
                <a:lnTo>
                  <a:pt x="2886808" y="0"/>
                </a:lnTo>
                <a:lnTo>
                  <a:pt x="2886808" y="2321169"/>
                </a:lnTo>
                <a:lnTo>
                  <a:pt x="0" y="2321169"/>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 name="Straight Connector 10">
            <a:extLst>
              <a:ext uri="{FF2B5EF4-FFF2-40B4-BE49-F238E27FC236}">
                <a16:creationId xmlns:a16="http://schemas.microsoft.com/office/drawing/2014/main" id="{7B5DD2B9-0E66-041D-3F8A-C51EC9468EAF}"/>
              </a:ext>
            </a:extLst>
          </p:cNvPr>
          <p:cNvCxnSpPr>
            <a:cxnSpLocks/>
          </p:cNvCxnSpPr>
          <p:nvPr/>
        </p:nvCxnSpPr>
        <p:spPr>
          <a:xfrm>
            <a:off x="0" y="487065"/>
            <a:ext cx="6061249" cy="0"/>
          </a:xfrm>
          <a:prstGeom prst="line">
            <a:avLst/>
          </a:prstGeom>
          <a:ln w="12700">
            <a:gradFill>
              <a:gsLst>
                <a:gs pos="0">
                  <a:srgbClr val="68DCCF">
                    <a:alpha val="44000"/>
                  </a:srgbClr>
                </a:gs>
                <a:gs pos="100000">
                  <a:srgbClr val="066EB8">
                    <a:alpha val="38000"/>
                  </a:srgbClr>
                </a:gs>
              </a:gsLst>
              <a:lin ang="0" scaled="0"/>
            </a:gradFill>
          </a:ln>
          <a:effectLst>
            <a:softEdge rad="0"/>
          </a:effectLst>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3306B09-7FA7-0100-776D-976CC2A1C68F}"/>
              </a:ext>
            </a:extLst>
          </p:cNvPr>
          <p:cNvSpPr/>
          <p:nvPr/>
        </p:nvSpPr>
        <p:spPr>
          <a:xfrm>
            <a:off x="628124" y="1041365"/>
            <a:ext cx="5471887" cy="4880605"/>
          </a:xfrm>
          <a:prstGeom prst="rect">
            <a:avLst/>
          </a:prstGeom>
          <a:solidFill>
            <a:schemeClr val="bg1">
              <a:lumMod val="85000"/>
              <a:alpha val="2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CCCEA11D-F8F7-C9AC-1C42-133BFC2356E1}"/>
              </a:ext>
            </a:extLst>
          </p:cNvPr>
          <p:cNvSpPr txBox="1"/>
          <p:nvPr/>
        </p:nvSpPr>
        <p:spPr>
          <a:xfrm>
            <a:off x="955449" y="1447852"/>
            <a:ext cx="295025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FFFF"/>
              </a:buClr>
              <a:buSzPts val="2800"/>
              <a:buFontTx/>
              <a:buNone/>
              <a:tabLst/>
              <a:defRPr/>
            </a:pPr>
            <a:r>
              <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Quattrocento Sans"/>
                <a:sym typeface="Quattrocento Sans"/>
              </a:rPr>
              <a:t>Key Features</a:t>
            </a:r>
            <a:endPar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endParaRPr>
          </a:p>
        </p:txBody>
      </p:sp>
      <p:sp>
        <p:nvSpPr>
          <p:cNvPr id="28" name="Rectangle 27">
            <a:extLst>
              <a:ext uri="{FF2B5EF4-FFF2-40B4-BE49-F238E27FC236}">
                <a16:creationId xmlns:a16="http://schemas.microsoft.com/office/drawing/2014/main" id="{31B059BD-0BFE-BFBE-1144-E424862946A5}"/>
              </a:ext>
            </a:extLst>
          </p:cNvPr>
          <p:cNvSpPr/>
          <p:nvPr/>
        </p:nvSpPr>
        <p:spPr>
          <a:xfrm>
            <a:off x="6142156" y="1041365"/>
            <a:ext cx="5471887" cy="4880605"/>
          </a:xfrm>
          <a:prstGeom prst="rect">
            <a:avLst/>
          </a:prstGeom>
          <a:solidFill>
            <a:schemeClr val="bg1">
              <a:lumMod val="85000"/>
              <a:alpha val="2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45" name="Group 44">
            <a:extLst>
              <a:ext uri="{FF2B5EF4-FFF2-40B4-BE49-F238E27FC236}">
                <a16:creationId xmlns:a16="http://schemas.microsoft.com/office/drawing/2014/main" id="{A7DD9695-53EF-867D-5A1C-41942F6D9A1A}"/>
              </a:ext>
            </a:extLst>
          </p:cNvPr>
          <p:cNvGrpSpPr/>
          <p:nvPr/>
        </p:nvGrpSpPr>
        <p:grpSpPr>
          <a:xfrm>
            <a:off x="9682614" y="3574127"/>
            <a:ext cx="2543636" cy="3283874"/>
            <a:chOff x="10035010" y="4029075"/>
            <a:chExt cx="2191240" cy="2828925"/>
          </a:xfrm>
        </p:grpSpPr>
        <p:sp>
          <p:nvSpPr>
            <p:cNvPr id="38" name="Freeform: Shape 37">
              <a:extLst>
                <a:ext uri="{FF2B5EF4-FFF2-40B4-BE49-F238E27FC236}">
                  <a16:creationId xmlns:a16="http://schemas.microsoft.com/office/drawing/2014/main" id="{F4BD9484-7480-219D-9D52-B5292CB79C7B}"/>
                </a:ext>
              </a:extLst>
            </p:cNvPr>
            <p:cNvSpPr/>
            <p:nvPr/>
          </p:nvSpPr>
          <p:spPr>
            <a:xfrm flipH="1">
              <a:off x="10035010" y="4160314"/>
              <a:ext cx="2165902" cy="2697686"/>
            </a:xfrm>
            <a:custGeom>
              <a:avLst/>
              <a:gdLst>
                <a:gd name="connsiteX0" fmla="*/ 863795 w 3420990"/>
                <a:gd name="connsiteY0" fmla="*/ 0 h 4543877"/>
                <a:gd name="connsiteX1" fmla="*/ 3420990 w 3420990"/>
                <a:gd name="connsiteY1" fmla="*/ 1476433 h 4543877"/>
                <a:gd name="connsiteX2" fmla="*/ 3420990 w 3420990"/>
                <a:gd name="connsiteY2" fmla="*/ 4429135 h 4543877"/>
                <a:gd name="connsiteX3" fmla="*/ 3222267 w 3420990"/>
                <a:gd name="connsiteY3" fmla="*/ 4543877 h 4543877"/>
                <a:gd name="connsiteX4" fmla="*/ 0 w 3420990"/>
                <a:gd name="connsiteY4" fmla="*/ 4543877 h 4543877"/>
                <a:gd name="connsiteX5" fmla="*/ 0 w 3420990"/>
                <a:gd name="connsiteY5" fmla="*/ 498724 h 4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990" h="4543877">
                  <a:moveTo>
                    <a:pt x="863795" y="0"/>
                  </a:moveTo>
                  <a:lnTo>
                    <a:pt x="3420990" y="1476433"/>
                  </a:lnTo>
                  <a:lnTo>
                    <a:pt x="3420990" y="4429135"/>
                  </a:lnTo>
                  <a:lnTo>
                    <a:pt x="3222267" y="4543877"/>
                  </a:lnTo>
                  <a:lnTo>
                    <a:pt x="0" y="4543877"/>
                  </a:lnTo>
                  <a:lnTo>
                    <a:pt x="0" y="498724"/>
                  </a:lnTo>
                  <a:close/>
                </a:path>
              </a:pathLst>
            </a:custGeom>
            <a:solidFill>
              <a:srgbClr val="005D9D">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Shape 38">
              <a:extLst>
                <a:ext uri="{FF2B5EF4-FFF2-40B4-BE49-F238E27FC236}">
                  <a16:creationId xmlns:a16="http://schemas.microsoft.com/office/drawing/2014/main" id="{AC893C29-D617-A20E-CD00-FB669087D57B}"/>
                </a:ext>
              </a:extLst>
            </p:cNvPr>
            <p:cNvSpPr/>
            <p:nvPr/>
          </p:nvSpPr>
          <p:spPr>
            <a:xfrm flipH="1">
              <a:off x="10850153" y="4428307"/>
              <a:ext cx="1360500" cy="2429693"/>
            </a:xfrm>
            <a:custGeom>
              <a:avLst/>
              <a:gdLst>
                <a:gd name="connsiteX0" fmla="*/ 0 w 2148877"/>
                <a:gd name="connsiteY0" fmla="*/ 0 h 4092481"/>
                <a:gd name="connsiteX1" fmla="*/ 2148877 w 2148877"/>
                <a:gd name="connsiteY1" fmla="*/ 1240684 h 4092481"/>
                <a:gd name="connsiteX2" fmla="*/ 2148877 w 2148877"/>
                <a:gd name="connsiteY2" fmla="*/ 4092481 h 4092481"/>
                <a:gd name="connsiteX3" fmla="*/ 0 w 2148877"/>
                <a:gd name="connsiteY3" fmla="*/ 4092481 h 4092481"/>
              </a:gdLst>
              <a:ahLst/>
              <a:cxnLst>
                <a:cxn ang="0">
                  <a:pos x="connsiteX0" y="connsiteY0"/>
                </a:cxn>
                <a:cxn ang="0">
                  <a:pos x="connsiteX1" y="connsiteY1"/>
                </a:cxn>
                <a:cxn ang="0">
                  <a:pos x="connsiteX2" y="connsiteY2"/>
                </a:cxn>
                <a:cxn ang="0">
                  <a:pos x="connsiteX3" y="connsiteY3"/>
                </a:cxn>
              </a:cxnLst>
              <a:rect l="l" t="t" r="r" b="b"/>
              <a:pathLst>
                <a:path w="2148877" h="4092481">
                  <a:moveTo>
                    <a:pt x="0" y="0"/>
                  </a:moveTo>
                  <a:lnTo>
                    <a:pt x="2148877" y="1240684"/>
                  </a:lnTo>
                  <a:lnTo>
                    <a:pt x="2148877" y="4092481"/>
                  </a:lnTo>
                  <a:lnTo>
                    <a:pt x="0" y="4092481"/>
                  </a:lnTo>
                  <a:close/>
                </a:path>
              </a:pathLst>
            </a:custGeom>
            <a:solidFill>
              <a:srgbClr val="68DCCF">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8DAA6F23-4A91-A352-E055-C942F054BABD}"/>
                </a:ext>
              </a:extLst>
            </p:cNvPr>
            <p:cNvSpPr/>
            <p:nvPr/>
          </p:nvSpPr>
          <p:spPr>
            <a:xfrm flipH="1">
              <a:off x="11081799" y="5615351"/>
              <a:ext cx="1144451" cy="1239195"/>
            </a:xfrm>
            <a:custGeom>
              <a:avLst/>
              <a:gdLst>
                <a:gd name="connsiteX0" fmla="*/ 596246 w 1192406"/>
                <a:gd name="connsiteY0" fmla="*/ 1376858 h 1376857"/>
                <a:gd name="connsiteX1" fmla="*/ 1192406 w 1192406"/>
                <a:gd name="connsiteY1" fmla="*/ 1032586 h 1376857"/>
                <a:gd name="connsiteX2" fmla="*/ 1192378 w 1192406"/>
                <a:gd name="connsiteY2" fmla="*/ 344186 h 1376857"/>
                <a:gd name="connsiteX3" fmla="*/ 596160 w 1192406"/>
                <a:gd name="connsiteY3" fmla="*/ 0 h 1376857"/>
                <a:gd name="connsiteX4" fmla="*/ 0 w 1192406"/>
                <a:gd name="connsiteY4" fmla="*/ 344243 h 137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406" h="1376857">
                  <a:moveTo>
                    <a:pt x="596246" y="1376858"/>
                  </a:moveTo>
                  <a:lnTo>
                    <a:pt x="1192406" y="1032586"/>
                  </a:lnTo>
                  <a:lnTo>
                    <a:pt x="1192378" y="344186"/>
                  </a:lnTo>
                  <a:lnTo>
                    <a:pt x="596160" y="0"/>
                  </a:lnTo>
                  <a:lnTo>
                    <a:pt x="0" y="344243"/>
                  </a:lnTo>
                </a:path>
              </a:pathLst>
            </a:custGeom>
            <a:noFill/>
            <a:ln w="1143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Shape 40">
              <a:extLst>
                <a:ext uri="{FF2B5EF4-FFF2-40B4-BE49-F238E27FC236}">
                  <a16:creationId xmlns:a16="http://schemas.microsoft.com/office/drawing/2014/main" id="{FEAE927F-DF30-9565-85F5-C98D963BE3F9}"/>
                </a:ext>
              </a:extLst>
            </p:cNvPr>
            <p:cNvSpPr/>
            <p:nvPr/>
          </p:nvSpPr>
          <p:spPr>
            <a:xfrm flipH="1">
              <a:off x="10858212" y="5406634"/>
              <a:ext cx="693172" cy="562916"/>
            </a:xfrm>
            <a:custGeom>
              <a:avLst/>
              <a:gdLst>
                <a:gd name="connsiteX0" fmla="*/ 738882 w 738882"/>
                <a:gd name="connsiteY0" fmla="*/ 639841 h 639881"/>
                <a:gd name="connsiteX1" fmla="*/ 738862 w 738882"/>
                <a:gd name="connsiteY1" fmla="*/ 213260 h 639881"/>
                <a:gd name="connsiteX2" fmla="*/ 369421 w 738882"/>
                <a:gd name="connsiteY2" fmla="*/ 0 h 639881"/>
                <a:gd name="connsiteX3" fmla="*/ 0 w 738882"/>
                <a:gd name="connsiteY3" fmla="*/ 213301 h 639881"/>
                <a:gd name="connsiteX4" fmla="*/ 20 w 738882"/>
                <a:gd name="connsiteY4" fmla="*/ 639882 h 63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882" h="639881">
                  <a:moveTo>
                    <a:pt x="738882" y="639841"/>
                  </a:moveTo>
                  <a:lnTo>
                    <a:pt x="738862" y="213260"/>
                  </a:lnTo>
                  <a:lnTo>
                    <a:pt x="369421" y="0"/>
                  </a:lnTo>
                  <a:lnTo>
                    <a:pt x="0" y="213301"/>
                  </a:lnTo>
                  <a:lnTo>
                    <a:pt x="20" y="639882"/>
                  </a:lnTo>
                </a:path>
              </a:pathLst>
            </a:custGeom>
            <a:noFill/>
            <a:ln w="12700" cap="rnd">
              <a:solidFill>
                <a:schemeClr val="accent1">
                  <a:lumMod val="60000"/>
                  <a:lumOff val="40000"/>
                </a:schemeClr>
              </a:solidFill>
              <a:prstDash val="lgDash"/>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3F9BE00C-BB0B-C49C-9DA2-B58EFA7ED633}"/>
                </a:ext>
              </a:extLst>
            </p:cNvPr>
            <p:cNvSpPr/>
            <p:nvPr/>
          </p:nvSpPr>
          <p:spPr>
            <a:xfrm flipH="1">
              <a:off x="11552424" y="4029075"/>
              <a:ext cx="453715" cy="425462"/>
            </a:xfrm>
            <a:prstGeom prst="ellipse">
              <a:avLst/>
            </a:prstGeom>
            <a:gradFill>
              <a:gsLst>
                <a:gs pos="100000">
                  <a:schemeClr val="accent1"/>
                </a:gs>
                <a:gs pos="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7" name="TextBox 56">
            <a:extLst>
              <a:ext uri="{FF2B5EF4-FFF2-40B4-BE49-F238E27FC236}">
                <a16:creationId xmlns:a16="http://schemas.microsoft.com/office/drawing/2014/main" id="{4233830E-3F56-4295-9159-84F62F5085E8}"/>
              </a:ext>
            </a:extLst>
          </p:cNvPr>
          <p:cNvSpPr txBox="1"/>
          <p:nvPr/>
        </p:nvSpPr>
        <p:spPr>
          <a:xfrm>
            <a:off x="6362939" y="1385585"/>
            <a:ext cx="295025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FFFF"/>
              </a:buClr>
              <a:buSzPts val="2800"/>
              <a:buFontTx/>
              <a:buNone/>
              <a:tabLst/>
              <a:defRPr/>
            </a:pPr>
            <a:r>
              <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Quattrocento Sans"/>
                <a:sym typeface="Quattrocento Sans"/>
              </a:rPr>
              <a:t>Use Cases</a:t>
            </a:r>
            <a:endPar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endParaRPr>
          </a:p>
        </p:txBody>
      </p:sp>
      <p:sp>
        <p:nvSpPr>
          <p:cNvPr id="19" name="Content Placeholder 2">
            <a:extLst>
              <a:ext uri="{FF2B5EF4-FFF2-40B4-BE49-F238E27FC236}">
                <a16:creationId xmlns:a16="http://schemas.microsoft.com/office/drawing/2014/main" id="{D2E93427-0D5A-41CB-B4E3-0D35505BE609}"/>
              </a:ext>
            </a:extLst>
          </p:cNvPr>
          <p:cNvSpPr txBox="1">
            <a:spLocks/>
          </p:cNvSpPr>
          <p:nvPr/>
        </p:nvSpPr>
        <p:spPr>
          <a:xfrm>
            <a:off x="937444" y="2043101"/>
            <a:ext cx="4695089" cy="3757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Converts natural language to SQL queries</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Supports CSV data integration to SQL</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Connects to SQL Server and other databases seamlessly</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Provides human-understandable answers</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Generates SQL queries and visualizations</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Multi-agent system for high accuracy and efficiency</a:t>
            </a:r>
          </a:p>
        </p:txBody>
      </p:sp>
      <p:sp>
        <p:nvSpPr>
          <p:cNvPr id="21" name="Content Placeholder 2">
            <a:extLst>
              <a:ext uri="{FF2B5EF4-FFF2-40B4-BE49-F238E27FC236}">
                <a16:creationId xmlns:a16="http://schemas.microsoft.com/office/drawing/2014/main" id="{5AED874F-4836-4A73-8102-0973C3E77B60}"/>
              </a:ext>
            </a:extLst>
          </p:cNvPr>
          <p:cNvSpPr txBox="1">
            <a:spLocks/>
          </p:cNvSpPr>
          <p:nvPr/>
        </p:nvSpPr>
        <p:spPr>
          <a:xfrm>
            <a:off x="6281262" y="2061365"/>
            <a:ext cx="5131282" cy="3757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Automated data querying for non-technical users</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Medical data analysis and visualization</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Real-time business intelligence reporting</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Database management in educational and research settings</a:t>
            </a:r>
          </a:p>
        </p:txBody>
      </p:sp>
    </p:spTree>
    <p:extLst>
      <p:ext uri="{BB962C8B-B14F-4D97-AF65-F5344CB8AC3E}">
        <p14:creationId xmlns:p14="http://schemas.microsoft.com/office/powerpoint/2010/main" val="28238266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0A7E2"/>
            </a:gs>
            <a:gs pos="67000">
              <a:srgbClr val="066EB8"/>
            </a:gs>
            <a:gs pos="100000">
              <a:srgbClr val="005D9D"/>
            </a:gs>
          </a:gsLst>
          <a:lin ang="8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71693E7-DEEA-883E-9D24-9071CC904E1D}"/>
              </a:ext>
            </a:extLst>
          </p:cNvPr>
          <p:cNvSpPr/>
          <p:nvPr/>
        </p:nvSpPr>
        <p:spPr>
          <a:xfrm flipH="1" flipV="1">
            <a:off x="0" y="0"/>
            <a:ext cx="2338754" cy="3434862"/>
          </a:xfrm>
          <a:custGeom>
            <a:avLst/>
            <a:gdLst>
              <a:gd name="connsiteX0" fmla="*/ 0 w 2338754"/>
              <a:gd name="connsiteY0" fmla="*/ 0 h 3434862"/>
              <a:gd name="connsiteX1" fmla="*/ 2338754 w 2338754"/>
              <a:gd name="connsiteY1" fmla="*/ 0 h 3434862"/>
              <a:gd name="connsiteX2" fmla="*/ 2338754 w 2338754"/>
              <a:gd name="connsiteY2" fmla="*/ 3434862 h 3434862"/>
              <a:gd name="connsiteX3" fmla="*/ 0 w 2338754"/>
              <a:gd name="connsiteY3" fmla="*/ 3434862 h 3434862"/>
            </a:gdLst>
            <a:ahLst/>
            <a:cxnLst>
              <a:cxn ang="0">
                <a:pos x="connsiteX0" y="connsiteY0"/>
              </a:cxn>
              <a:cxn ang="0">
                <a:pos x="connsiteX1" y="connsiteY1"/>
              </a:cxn>
              <a:cxn ang="0">
                <a:pos x="connsiteX2" y="connsiteY2"/>
              </a:cxn>
              <a:cxn ang="0">
                <a:pos x="connsiteX3" y="connsiteY3"/>
              </a:cxn>
            </a:cxnLst>
            <a:rect l="l" t="t" r="r" b="b"/>
            <a:pathLst>
              <a:path w="2338754" h="3434862">
                <a:moveTo>
                  <a:pt x="0" y="0"/>
                </a:moveTo>
                <a:lnTo>
                  <a:pt x="2338754" y="0"/>
                </a:lnTo>
                <a:lnTo>
                  <a:pt x="2338754" y="3434862"/>
                </a:lnTo>
                <a:lnTo>
                  <a:pt x="0" y="3434862"/>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8">
            <a:extLst>
              <a:ext uri="{FF2B5EF4-FFF2-40B4-BE49-F238E27FC236}">
                <a16:creationId xmlns:a16="http://schemas.microsoft.com/office/drawing/2014/main" id="{38E7C6DB-8433-5E97-8D82-7E174C5822EF}"/>
              </a:ext>
            </a:extLst>
          </p:cNvPr>
          <p:cNvSpPr/>
          <p:nvPr/>
        </p:nvSpPr>
        <p:spPr>
          <a:xfrm flipH="1" flipV="1">
            <a:off x="0" y="0"/>
            <a:ext cx="3434862" cy="3012831"/>
          </a:xfrm>
          <a:custGeom>
            <a:avLst/>
            <a:gdLst>
              <a:gd name="connsiteX0" fmla="*/ 0 w 3434862"/>
              <a:gd name="connsiteY0" fmla="*/ 0 h 3012831"/>
              <a:gd name="connsiteX1" fmla="*/ 3434862 w 3434862"/>
              <a:gd name="connsiteY1" fmla="*/ 0 h 3012831"/>
              <a:gd name="connsiteX2" fmla="*/ 3434862 w 3434862"/>
              <a:gd name="connsiteY2" fmla="*/ 3012831 h 3012831"/>
              <a:gd name="connsiteX3" fmla="*/ 0 w 3434862"/>
              <a:gd name="connsiteY3" fmla="*/ 3012831 h 3012831"/>
            </a:gdLst>
            <a:ahLst/>
            <a:cxnLst>
              <a:cxn ang="0">
                <a:pos x="connsiteX0" y="connsiteY0"/>
              </a:cxn>
              <a:cxn ang="0">
                <a:pos x="connsiteX1" y="connsiteY1"/>
              </a:cxn>
              <a:cxn ang="0">
                <a:pos x="connsiteX2" y="connsiteY2"/>
              </a:cxn>
              <a:cxn ang="0">
                <a:pos x="connsiteX3" y="connsiteY3"/>
              </a:cxn>
            </a:cxnLst>
            <a:rect l="l" t="t" r="r" b="b"/>
            <a:pathLst>
              <a:path w="3434862" h="3012831">
                <a:moveTo>
                  <a:pt x="0" y="0"/>
                </a:moveTo>
                <a:lnTo>
                  <a:pt x="3434862" y="0"/>
                </a:lnTo>
                <a:lnTo>
                  <a:pt x="3434862" y="3012831"/>
                </a:lnTo>
                <a:lnTo>
                  <a:pt x="0" y="3012831"/>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CE49FAA0-2930-3017-1BCE-8419DC6B6E0A}"/>
              </a:ext>
            </a:extLst>
          </p:cNvPr>
          <p:cNvSpPr/>
          <p:nvPr/>
        </p:nvSpPr>
        <p:spPr>
          <a:xfrm flipH="1" flipV="1">
            <a:off x="416565" y="421819"/>
            <a:ext cx="2886808" cy="2321169"/>
          </a:xfrm>
          <a:custGeom>
            <a:avLst/>
            <a:gdLst>
              <a:gd name="connsiteX0" fmla="*/ 0 w 2886808"/>
              <a:gd name="connsiteY0" fmla="*/ 0 h 2321169"/>
              <a:gd name="connsiteX1" fmla="*/ 2886808 w 2886808"/>
              <a:gd name="connsiteY1" fmla="*/ 0 h 2321169"/>
              <a:gd name="connsiteX2" fmla="*/ 2886808 w 2886808"/>
              <a:gd name="connsiteY2" fmla="*/ 2321169 h 2321169"/>
              <a:gd name="connsiteX3" fmla="*/ 0 w 2886808"/>
              <a:gd name="connsiteY3" fmla="*/ 2321169 h 2321169"/>
            </a:gdLst>
            <a:ahLst/>
            <a:cxnLst>
              <a:cxn ang="0">
                <a:pos x="connsiteX0" y="connsiteY0"/>
              </a:cxn>
              <a:cxn ang="0">
                <a:pos x="connsiteX1" y="connsiteY1"/>
              </a:cxn>
              <a:cxn ang="0">
                <a:pos x="connsiteX2" y="connsiteY2"/>
              </a:cxn>
              <a:cxn ang="0">
                <a:pos x="connsiteX3" y="connsiteY3"/>
              </a:cxn>
            </a:cxnLst>
            <a:rect l="l" t="t" r="r" b="b"/>
            <a:pathLst>
              <a:path w="2886808" h="2321169">
                <a:moveTo>
                  <a:pt x="0" y="0"/>
                </a:moveTo>
                <a:lnTo>
                  <a:pt x="2886808" y="0"/>
                </a:lnTo>
                <a:lnTo>
                  <a:pt x="2886808" y="2321169"/>
                </a:lnTo>
                <a:lnTo>
                  <a:pt x="0" y="2321169"/>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 name="Straight Connector 10">
            <a:extLst>
              <a:ext uri="{FF2B5EF4-FFF2-40B4-BE49-F238E27FC236}">
                <a16:creationId xmlns:a16="http://schemas.microsoft.com/office/drawing/2014/main" id="{7B5DD2B9-0E66-041D-3F8A-C51EC9468EAF}"/>
              </a:ext>
            </a:extLst>
          </p:cNvPr>
          <p:cNvCxnSpPr>
            <a:cxnSpLocks/>
          </p:cNvCxnSpPr>
          <p:nvPr/>
        </p:nvCxnSpPr>
        <p:spPr>
          <a:xfrm>
            <a:off x="0" y="487065"/>
            <a:ext cx="6061249" cy="0"/>
          </a:xfrm>
          <a:prstGeom prst="line">
            <a:avLst/>
          </a:prstGeom>
          <a:ln w="12700">
            <a:gradFill>
              <a:gsLst>
                <a:gs pos="0">
                  <a:srgbClr val="68DCCF">
                    <a:alpha val="44000"/>
                  </a:srgbClr>
                </a:gs>
                <a:gs pos="100000">
                  <a:srgbClr val="066EB8">
                    <a:alpha val="38000"/>
                  </a:srgbClr>
                </a:gs>
              </a:gsLst>
              <a:lin ang="0" scaled="0"/>
            </a:gradFill>
          </a:ln>
          <a:effectLst>
            <a:softEdge rad="0"/>
          </a:effectLst>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3306B09-7FA7-0100-776D-976CC2A1C68F}"/>
              </a:ext>
            </a:extLst>
          </p:cNvPr>
          <p:cNvSpPr/>
          <p:nvPr/>
        </p:nvSpPr>
        <p:spPr>
          <a:xfrm>
            <a:off x="628124" y="1041365"/>
            <a:ext cx="5471887" cy="4880605"/>
          </a:xfrm>
          <a:prstGeom prst="rect">
            <a:avLst/>
          </a:prstGeom>
          <a:solidFill>
            <a:schemeClr val="bg1">
              <a:lumMod val="85000"/>
              <a:alpha val="2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CCCEA11D-F8F7-C9AC-1C42-133BFC2356E1}"/>
              </a:ext>
            </a:extLst>
          </p:cNvPr>
          <p:cNvSpPr txBox="1"/>
          <p:nvPr/>
        </p:nvSpPr>
        <p:spPr>
          <a:xfrm>
            <a:off x="955449" y="1447852"/>
            <a:ext cx="295025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FFFF"/>
              </a:buClr>
              <a:buSzPts val="2800"/>
              <a:buFontTx/>
              <a:buNone/>
              <a:tabLst/>
              <a:defRPr/>
            </a:pPr>
            <a:r>
              <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Quattrocento Sans"/>
                <a:sym typeface="Quattrocento Sans"/>
              </a:rPr>
              <a:t>Performance Metrics</a:t>
            </a:r>
            <a:endPar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endParaRPr>
          </a:p>
        </p:txBody>
      </p:sp>
      <p:sp>
        <p:nvSpPr>
          <p:cNvPr id="28" name="Rectangle 27">
            <a:extLst>
              <a:ext uri="{FF2B5EF4-FFF2-40B4-BE49-F238E27FC236}">
                <a16:creationId xmlns:a16="http://schemas.microsoft.com/office/drawing/2014/main" id="{31B059BD-0BFE-BFBE-1144-E424862946A5}"/>
              </a:ext>
            </a:extLst>
          </p:cNvPr>
          <p:cNvSpPr/>
          <p:nvPr/>
        </p:nvSpPr>
        <p:spPr>
          <a:xfrm>
            <a:off x="6142156" y="1041365"/>
            <a:ext cx="5471887" cy="4880605"/>
          </a:xfrm>
          <a:prstGeom prst="rect">
            <a:avLst/>
          </a:prstGeom>
          <a:solidFill>
            <a:schemeClr val="bg1">
              <a:lumMod val="85000"/>
              <a:alpha val="2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45" name="Group 44">
            <a:extLst>
              <a:ext uri="{FF2B5EF4-FFF2-40B4-BE49-F238E27FC236}">
                <a16:creationId xmlns:a16="http://schemas.microsoft.com/office/drawing/2014/main" id="{A7DD9695-53EF-867D-5A1C-41942F6D9A1A}"/>
              </a:ext>
            </a:extLst>
          </p:cNvPr>
          <p:cNvGrpSpPr/>
          <p:nvPr/>
        </p:nvGrpSpPr>
        <p:grpSpPr>
          <a:xfrm>
            <a:off x="9682614" y="3574127"/>
            <a:ext cx="2543636" cy="3283874"/>
            <a:chOff x="10035010" y="4029075"/>
            <a:chExt cx="2191240" cy="2828925"/>
          </a:xfrm>
        </p:grpSpPr>
        <p:sp>
          <p:nvSpPr>
            <p:cNvPr id="38" name="Freeform: Shape 37">
              <a:extLst>
                <a:ext uri="{FF2B5EF4-FFF2-40B4-BE49-F238E27FC236}">
                  <a16:creationId xmlns:a16="http://schemas.microsoft.com/office/drawing/2014/main" id="{F4BD9484-7480-219D-9D52-B5292CB79C7B}"/>
                </a:ext>
              </a:extLst>
            </p:cNvPr>
            <p:cNvSpPr/>
            <p:nvPr/>
          </p:nvSpPr>
          <p:spPr>
            <a:xfrm flipH="1">
              <a:off x="10035010" y="4160314"/>
              <a:ext cx="2165902" cy="2697686"/>
            </a:xfrm>
            <a:custGeom>
              <a:avLst/>
              <a:gdLst>
                <a:gd name="connsiteX0" fmla="*/ 863795 w 3420990"/>
                <a:gd name="connsiteY0" fmla="*/ 0 h 4543877"/>
                <a:gd name="connsiteX1" fmla="*/ 3420990 w 3420990"/>
                <a:gd name="connsiteY1" fmla="*/ 1476433 h 4543877"/>
                <a:gd name="connsiteX2" fmla="*/ 3420990 w 3420990"/>
                <a:gd name="connsiteY2" fmla="*/ 4429135 h 4543877"/>
                <a:gd name="connsiteX3" fmla="*/ 3222267 w 3420990"/>
                <a:gd name="connsiteY3" fmla="*/ 4543877 h 4543877"/>
                <a:gd name="connsiteX4" fmla="*/ 0 w 3420990"/>
                <a:gd name="connsiteY4" fmla="*/ 4543877 h 4543877"/>
                <a:gd name="connsiteX5" fmla="*/ 0 w 3420990"/>
                <a:gd name="connsiteY5" fmla="*/ 498724 h 4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990" h="4543877">
                  <a:moveTo>
                    <a:pt x="863795" y="0"/>
                  </a:moveTo>
                  <a:lnTo>
                    <a:pt x="3420990" y="1476433"/>
                  </a:lnTo>
                  <a:lnTo>
                    <a:pt x="3420990" y="4429135"/>
                  </a:lnTo>
                  <a:lnTo>
                    <a:pt x="3222267" y="4543877"/>
                  </a:lnTo>
                  <a:lnTo>
                    <a:pt x="0" y="4543877"/>
                  </a:lnTo>
                  <a:lnTo>
                    <a:pt x="0" y="498724"/>
                  </a:lnTo>
                  <a:close/>
                </a:path>
              </a:pathLst>
            </a:custGeom>
            <a:solidFill>
              <a:srgbClr val="005D9D">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Shape 38">
              <a:extLst>
                <a:ext uri="{FF2B5EF4-FFF2-40B4-BE49-F238E27FC236}">
                  <a16:creationId xmlns:a16="http://schemas.microsoft.com/office/drawing/2014/main" id="{AC893C29-D617-A20E-CD00-FB669087D57B}"/>
                </a:ext>
              </a:extLst>
            </p:cNvPr>
            <p:cNvSpPr/>
            <p:nvPr/>
          </p:nvSpPr>
          <p:spPr>
            <a:xfrm flipH="1">
              <a:off x="10850153" y="4428307"/>
              <a:ext cx="1360500" cy="2429693"/>
            </a:xfrm>
            <a:custGeom>
              <a:avLst/>
              <a:gdLst>
                <a:gd name="connsiteX0" fmla="*/ 0 w 2148877"/>
                <a:gd name="connsiteY0" fmla="*/ 0 h 4092481"/>
                <a:gd name="connsiteX1" fmla="*/ 2148877 w 2148877"/>
                <a:gd name="connsiteY1" fmla="*/ 1240684 h 4092481"/>
                <a:gd name="connsiteX2" fmla="*/ 2148877 w 2148877"/>
                <a:gd name="connsiteY2" fmla="*/ 4092481 h 4092481"/>
                <a:gd name="connsiteX3" fmla="*/ 0 w 2148877"/>
                <a:gd name="connsiteY3" fmla="*/ 4092481 h 4092481"/>
              </a:gdLst>
              <a:ahLst/>
              <a:cxnLst>
                <a:cxn ang="0">
                  <a:pos x="connsiteX0" y="connsiteY0"/>
                </a:cxn>
                <a:cxn ang="0">
                  <a:pos x="connsiteX1" y="connsiteY1"/>
                </a:cxn>
                <a:cxn ang="0">
                  <a:pos x="connsiteX2" y="connsiteY2"/>
                </a:cxn>
                <a:cxn ang="0">
                  <a:pos x="connsiteX3" y="connsiteY3"/>
                </a:cxn>
              </a:cxnLst>
              <a:rect l="l" t="t" r="r" b="b"/>
              <a:pathLst>
                <a:path w="2148877" h="4092481">
                  <a:moveTo>
                    <a:pt x="0" y="0"/>
                  </a:moveTo>
                  <a:lnTo>
                    <a:pt x="2148877" y="1240684"/>
                  </a:lnTo>
                  <a:lnTo>
                    <a:pt x="2148877" y="4092481"/>
                  </a:lnTo>
                  <a:lnTo>
                    <a:pt x="0" y="4092481"/>
                  </a:lnTo>
                  <a:close/>
                </a:path>
              </a:pathLst>
            </a:custGeom>
            <a:solidFill>
              <a:srgbClr val="68DCCF">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8DAA6F23-4A91-A352-E055-C942F054BABD}"/>
                </a:ext>
              </a:extLst>
            </p:cNvPr>
            <p:cNvSpPr/>
            <p:nvPr/>
          </p:nvSpPr>
          <p:spPr>
            <a:xfrm flipH="1">
              <a:off x="11081799" y="5615351"/>
              <a:ext cx="1144451" cy="1239195"/>
            </a:xfrm>
            <a:custGeom>
              <a:avLst/>
              <a:gdLst>
                <a:gd name="connsiteX0" fmla="*/ 596246 w 1192406"/>
                <a:gd name="connsiteY0" fmla="*/ 1376858 h 1376857"/>
                <a:gd name="connsiteX1" fmla="*/ 1192406 w 1192406"/>
                <a:gd name="connsiteY1" fmla="*/ 1032586 h 1376857"/>
                <a:gd name="connsiteX2" fmla="*/ 1192378 w 1192406"/>
                <a:gd name="connsiteY2" fmla="*/ 344186 h 1376857"/>
                <a:gd name="connsiteX3" fmla="*/ 596160 w 1192406"/>
                <a:gd name="connsiteY3" fmla="*/ 0 h 1376857"/>
                <a:gd name="connsiteX4" fmla="*/ 0 w 1192406"/>
                <a:gd name="connsiteY4" fmla="*/ 344243 h 137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406" h="1376857">
                  <a:moveTo>
                    <a:pt x="596246" y="1376858"/>
                  </a:moveTo>
                  <a:lnTo>
                    <a:pt x="1192406" y="1032586"/>
                  </a:lnTo>
                  <a:lnTo>
                    <a:pt x="1192378" y="344186"/>
                  </a:lnTo>
                  <a:lnTo>
                    <a:pt x="596160" y="0"/>
                  </a:lnTo>
                  <a:lnTo>
                    <a:pt x="0" y="344243"/>
                  </a:lnTo>
                </a:path>
              </a:pathLst>
            </a:custGeom>
            <a:noFill/>
            <a:ln w="1143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Shape 40">
              <a:extLst>
                <a:ext uri="{FF2B5EF4-FFF2-40B4-BE49-F238E27FC236}">
                  <a16:creationId xmlns:a16="http://schemas.microsoft.com/office/drawing/2014/main" id="{FEAE927F-DF30-9565-85F5-C98D963BE3F9}"/>
                </a:ext>
              </a:extLst>
            </p:cNvPr>
            <p:cNvSpPr/>
            <p:nvPr/>
          </p:nvSpPr>
          <p:spPr>
            <a:xfrm flipH="1">
              <a:off x="10858212" y="5406634"/>
              <a:ext cx="693172" cy="562916"/>
            </a:xfrm>
            <a:custGeom>
              <a:avLst/>
              <a:gdLst>
                <a:gd name="connsiteX0" fmla="*/ 738882 w 738882"/>
                <a:gd name="connsiteY0" fmla="*/ 639841 h 639881"/>
                <a:gd name="connsiteX1" fmla="*/ 738862 w 738882"/>
                <a:gd name="connsiteY1" fmla="*/ 213260 h 639881"/>
                <a:gd name="connsiteX2" fmla="*/ 369421 w 738882"/>
                <a:gd name="connsiteY2" fmla="*/ 0 h 639881"/>
                <a:gd name="connsiteX3" fmla="*/ 0 w 738882"/>
                <a:gd name="connsiteY3" fmla="*/ 213301 h 639881"/>
                <a:gd name="connsiteX4" fmla="*/ 20 w 738882"/>
                <a:gd name="connsiteY4" fmla="*/ 639882 h 63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882" h="639881">
                  <a:moveTo>
                    <a:pt x="738882" y="639841"/>
                  </a:moveTo>
                  <a:lnTo>
                    <a:pt x="738862" y="213260"/>
                  </a:lnTo>
                  <a:lnTo>
                    <a:pt x="369421" y="0"/>
                  </a:lnTo>
                  <a:lnTo>
                    <a:pt x="0" y="213301"/>
                  </a:lnTo>
                  <a:lnTo>
                    <a:pt x="20" y="639882"/>
                  </a:lnTo>
                </a:path>
              </a:pathLst>
            </a:custGeom>
            <a:noFill/>
            <a:ln w="12700" cap="rnd">
              <a:solidFill>
                <a:schemeClr val="accent1">
                  <a:lumMod val="60000"/>
                  <a:lumOff val="40000"/>
                </a:schemeClr>
              </a:solidFill>
              <a:prstDash val="lgDash"/>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3F9BE00C-BB0B-C49C-9DA2-B58EFA7ED633}"/>
                </a:ext>
              </a:extLst>
            </p:cNvPr>
            <p:cNvSpPr/>
            <p:nvPr/>
          </p:nvSpPr>
          <p:spPr>
            <a:xfrm flipH="1">
              <a:off x="11552424" y="4029075"/>
              <a:ext cx="453715" cy="425462"/>
            </a:xfrm>
            <a:prstGeom prst="ellipse">
              <a:avLst/>
            </a:prstGeom>
            <a:gradFill>
              <a:gsLst>
                <a:gs pos="100000">
                  <a:schemeClr val="accent1"/>
                </a:gs>
                <a:gs pos="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57" name="TextBox 56">
            <a:extLst>
              <a:ext uri="{FF2B5EF4-FFF2-40B4-BE49-F238E27FC236}">
                <a16:creationId xmlns:a16="http://schemas.microsoft.com/office/drawing/2014/main" id="{4233830E-3F56-4295-9159-84F62F5085E8}"/>
              </a:ext>
            </a:extLst>
          </p:cNvPr>
          <p:cNvSpPr txBox="1"/>
          <p:nvPr/>
        </p:nvSpPr>
        <p:spPr>
          <a:xfrm>
            <a:off x="6362939" y="1385585"/>
            <a:ext cx="365191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FFFF"/>
              </a:buClr>
              <a:buSzPts val="2800"/>
              <a:buFontTx/>
              <a:buNone/>
              <a:tabLst/>
              <a:defRPr/>
            </a:pPr>
            <a:r>
              <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Quattrocento Sans"/>
                <a:sym typeface="Quattrocento Sans"/>
              </a:rPr>
              <a:t>Interface Demonstration</a:t>
            </a:r>
            <a:endParaRPr kumimoji="0" lang="en-IN" sz="20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endParaRPr>
          </a:p>
        </p:txBody>
      </p:sp>
      <p:sp>
        <p:nvSpPr>
          <p:cNvPr id="18" name="Content Placeholder 2">
            <a:extLst>
              <a:ext uri="{FF2B5EF4-FFF2-40B4-BE49-F238E27FC236}">
                <a16:creationId xmlns:a16="http://schemas.microsoft.com/office/drawing/2014/main" id="{6ED74A31-CC1B-4FE3-8D86-EFE799C4B2C6}"/>
              </a:ext>
            </a:extLst>
          </p:cNvPr>
          <p:cNvSpPr txBox="1">
            <a:spLocks/>
          </p:cNvSpPr>
          <p:nvPr/>
        </p:nvSpPr>
        <p:spPr>
          <a:xfrm>
            <a:off x="964830" y="2043102"/>
            <a:ext cx="4878586" cy="27792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High accuracy in SQL generation (Exact SQL Match Accuracy)</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Efficient response time (Latency and Efficiency)</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Human-friendly output (Response Formatting)</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Dynamic chart generation for data presentation</a:t>
            </a:r>
          </a:p>
        </p:txBody>
      </p:sp>
      <p:sp>
        <p:nvSpPr>
          <p:cNvPr id="23" name="Content Placeholder 2">
            <a:extLst>
              <a:ext uri="{FF2B5EF4-FFF2-40B4-BE49-F238E27FC236}">
                <a16:creationId xmlns:a16="http://schemas.microsoft.com/office/drawing/2014/main" id="{78584FEC-4C45-4833-A8BB-908D4166D9DA}"/>
              </a:ext>
            </a:extLst>
          </p:cNvPr>
          <p:cNvSpPr txBox="1">
            <a:spLocks/>
          </p:cNvSpPr>
          <p:nvPr/>
        </p:nvSpPr>
        <p:spPr>
          <a:xfrm>
            <a:off x="6399461" y="1999942"/>
            <a:ext cx="4957275" cy="3948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showcasing the </a:t>
            </a:r>
            <a:r>
              <a:rPr kumimoji="0" lang="en-US" sz="1600" b="0" i="0" u="none" strike="noStrike" kern="1200" cap="none" spc="0" normalizeH="0" baseline="0" noProof="0" dirty="0" err="1">
                <a:ln>
                  <a:noFill/>
                </a:ln>
                <a:solidFill>
                  <a:prstClr val="white">
                    <a:lumMod val="95000"/>
                  </a:prstClr>
                </a:solidFill>
                <a:effectLst/>
                <a:uLnTx/>
                <a:uFillTx/>
                <a:latin typeface="Roboto" pitchFamily="2" charset="0"/>
                <a:ea typeface="Roboto" pitchFamily="2" charset="0"/>
                <a:cs typeface="+mn-cs"/>
              </a:rPr>
              <a:t>ParseQri</a:t>
            </a: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 with sample interface images demonstrating the core functionalities:</a:t>
            </a:r>
          </a:p>
          <a:p>
            <a:pPr marL="0" marR="0" lvl="0" indent="0" algn="just"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Natural language to SQL query conversion</a:t>
            </a:r>
          </a:p>
          <a:p>
            <a:pPr marL="228600" marR="0" lvl="0" indent="-228600" algn="just"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Real-time data visualization</a:t>
            </a:r>
          </a:p>
          <a:p>
            <a:pPr marL="228600" marR="0" lvl="0" indent="-228600" algn="just" defTabSz="914400" rtl="0" eaLnBrk="1" fontAlgn="auto" latinLnBrk="0" hangingPunct="1">
              <a:lnSpc>
                <a:spcPct val="150000"/>
              </a:lnSpc>
              <a:spcBef>
                <a:spcPts val="10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rPr>
              <a:t>Query validation and error handling</a:t>
            </a:r>
          </a:p>
          <a:p>
            <a:pPr marL="228600" marR="0" lvl="0" indent="-228600" algn="just" defTabSz="914400" rtl="0" eaLnBrk="1" fontAlgn="auto" latinLnBrk="0" hangingPunct="1">
              <a:lnSpc>
                <a:spcPct val="150000"/>
              </a:lnSpc>
              <a:spcBef>
                <a:spcPts val="1000"/>
              </a:spcBef>
              <a:spcAft>
                <a:spcPts val="0"/>
              </a:spcAft>
              <a:buClrTx/>
              <a:buSzTx/>
              <a:buFontTx/>
              <a:buChar char="-"/>
              <a:tabLst/>
              <a:defRPr/>
            </a:pPr>
            <a:endParaRPr kumimoji="0" lang="en-US" sz="1600" b="0" i="0" u="none" strike="noStrike" kern="1200" cap="none" spc="0" normalizeH="0" baseline="0" noProof="0" dirty="0">
              <a:ln>
                <a:noFill/>
              </a:ln>
              <a:solidFill>
                <a:prstClr val="white">
                  <a:lumMod val="95000"/>
                </a:prstClr>
              </a:solidFill>
              <a:effectLst/>
              <a:uLnTx/>
              <a:uFillTx/>
              <a:latin typeface="Roboto" pitchFamily="2" charset="0"/>
              <a:ea typeface="Roboto" pitchFamily="2" charset="0"/>
              <a:cs typeface="+mn-cs"/>
            </a:endParaRPr>
          </a:p>
        </p:txBody>
      </p:sp>
    </p:spTree>
    <p:extLst>
      <p:ext uri="{BB962C8B-B14F-4D97-AF65-F5344CB8AC3E}">
        <p14:creationId xmlns:p14="http://schemas.microsoft.com/office/powerpoint/2010/main" val="27031839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A7E2"/>
            </a:gs>
            <a:gs pos="67000">
              <a:srgbClr val="066EB8"/>
            </a:gs>
            <a:gs pos="100000">
              <a:srgbClr val="005D9D"/>
            </a:gs>
          </a:gsLst>
          <a:lin ang="8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71693E7-DEEA-883E-9D24-9071CC904E1D}"/>
              </a:ext>
            </a:extLst>
          </p:cNvPr>
          <p:cNvSpPr/>
          <p:nvPr/>
        </p:nvSpPr>
        <p:spPr>
          <a:xfrm flipH="1" flipV="1">
            <a:off x="0" y="0"/>
            <a:ext cx="2338754" cy="3434862"/>
          </a:xfrm>
          <a:custGeom>
            <a:avLst/>
            <a:gdLst>
              <a:gd name="connsiteX0" fmla="*/ 0 w 2338754"/>
              <a:gd name="connsiteY0" fmla="*/ 0 h 3434862"/>
              <a:gd name="connsiteX1" fmla="*/ 2338754 w 2338754"/>
              <a:gd name="connsiteY1" fmla="*/ 0 h 3434862"/>
              <a:gd name="connsiteX2" fmla="*/ 2338754 w 2338754"/>
              <a:gd name="connsiteY2" fmla="*/ 3434862 h 3434862"/>
              <a:gd name="connsiteX3" fmla="*/ 0 w 2338754"/>
              <a:gd name="connsiteY3" fmla="*/ 3434862 h 3434862"/>
            </a:gdLst>
            <a:ahLst/>
            <a:cxnLst>
              <a:cxn ang="0">
                <a:pos x="connsiteX0" y="connsiteY0"/>
              </a:cxn>
              <a:cxn ang="0">
                <a:pos x="connsiteX1" y="connsiteY1"/>
              </a:cxn>
              <a:cxn ang="0">
                <a:pos x="connsiteX2" y="connsiteY2"/>
              </a:cxn>
              <a:cxn ang="0">
                <a:pos x="connsiteX3" y="connsiteY3"/>
              </a:cxn>
            </a:cxnLst>
            <a:rect l="l" t="t" r="r" b="b"/>
            <a:pathLst>
              <a:path w="2338754" h="3434862">
                <a:moveTo>
                  <a:pt x="0" y="0"/>
                </a:moveTo>
                <a:lnTo>
                  <a:pt x="2338754" y="0"/>
                </a:lnTo>
                <a:lnTo>
                  <a:pt x="2338754" y="3434862"/>
                </a:lnTo>
                <a:lnTo>
                  <a:pt x="0" y="3434862"/>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8">
            <a:extLst>
              <a:ext uri="{FF2B5EF4-FFF2-40B4-BE49-F238E27FC236}">
                <a16:creationId xmlns:a16="http://schemas.microsoft.com/office/drawing/2014/main" id="{38E7C6DB-8433-5E97-8D82-7E174C5822EF}"/>
              </a:ext>
            </a:extLst>
          </p:cNvPr>
          <p:cNvSpPr/>
          <p:nvPr/>
        </p:nvSpPr>
        <p:spPr>
          <a:xfrm flipH="1" flipV="1">
            <a:off x="0" y="0"/>
            <a:ext cx="3434862" cy="3012831"/>
          </a:xfrm>
          <a:custGeom>
            <a:avLst/>
            <a:gdLst>
              <a:gd name="connsiteX0" fmla="*/ 0 w 3434862"/>
              <a:gd name="connsiteY0" fmla="*/ 0 h 3012831"/>
              <a:gd name="connsiteX1" fmla="*/ 3434862 w 3434862"/>
              <a:gd name="connsiteY1" fmla="*/ 0 h 3012831"/>
              <a:gd name="connsiteX2" fmla="*/ 3434862 w 3434862"/>
              <a:gd name="connsiteY2" fmla="*/ 3012831 h 3012831"/>
              <a:gd name="connsiteX3" fmla="*/ 0 w 3434862"/>
              <a:gd name="connsiteY3" fmla="*/ 3012831 h 3012831"/>
            </a:gdLst>
            <a:ahLst/>
            <a:cxnLst>
              <a:cxn ang="0">
                <a:pos x="connsiteX0" y="connsiteY0"/>
              </a:cxn>
              <a:cxn ang="0">
                <a:pos x="connsiteX1" y="connsiteY1"/>
              </a:cxn>
              <a:cxn ang="0">
                <a:pos x="connsiteX2" y="connsiteY2"/>
              </a:cxn>
              <a:cxn ang="0">
                <a:pos x="connsiteX3" y="connsiteY3"/>
              </a:cxn>
            </a:cxnLst>
            <a:rect l="l" t="t" r="r" b="b"/>
            <a:pathLst>
              <a:path w="3434862" h="3012831">
                <a:moveTo>
                  <a:pt x="0" y="0"/>
                </a:moveTo>
                <a:lnTo>
                  <a:pt x="3434862" y="0"/>
                </a:lnTo>
                <a:lnTo>
                  <a:pt x="3434862" y="3012831"/>
                </a:lnTo>
                <a:lnTo>
                  <a:pt x="0" y="3012831"/>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CE49FAA0-2930-3017-1BCE-8419DC6B6E0A}"/>
              </a:ext>
            </a:extLst>
          </p:cNvPr>
          <p:cNvSpPr/>
          <p:nvPr/>
        </p:nvSpPr>
        <p:spPr>
          <a:xfrm flipH="1" flipV="1">
            <a:off x="416565" y="421819"/>
            <a:ext cx="2886808" cy="2321169"/>
          </a:xfrm>
          <a:custGeom>
            <a:avLst/>
            <a:gdLst>
              <a:gd name="connsiteX0" fmla="*/ 0 w 2886808"/>
              <a:gd name="connsiteY0" fmla="*/ 0 h 2321169"/>
              <a:gd name="connsiteX1" fmla="*/ 2886808 w 2886808"/>
              <a:gd name="connsiteY1" fmla="*/ 0 h 2321169"/>
              <a:gd name="connsiteX2" fmla="*/ 2886808 w 2886808"/>
              <a:gd name="connsiteY2" fmla="*/ 2321169 h 2321169"/>
              <a:gd name="connsiteX3" fmla="*/ 0 w 2886808"/>
              <a:gd name="connsiteY3" fmla="*/ 2321169 h 2321169"/>
            </a:gdLst>
            <a:ahLst/>
            <a:cxnLst>
              <a:cxn ang="0">
                <a:pos x="connsiteX0" y="connsiteY0"/>
              </a:cxn>
              <a:cxn ang="0">
                <a:pos x="connsiteX1" y="connsiteY1"/>
              </a:cxn>
              <a:cxn ang="0">
                <a:pos x="connsiteX2" y="connsiteY2"/>
              </a:cxn>
              <a:cxn ang="0">
                <a:pos x="connsiteX3" y="connsiteY3"/>
              </a:cxn>
            </a:cxnLst>
            <a:rect l="l" t="t" r="r" b="b"/>
            <a:pathLst>
              <a:path w="2886808" h="2321169">
                <a:moveTo>
                  <a:pt x="0" y="0"/>
                </a:moveTo>
                <a:lnTo>
                  <a:pt x="2886808" y="0"/>
                </a:lnTo>
                <a:lnTo>
                  <a:pt x="2886808" y="2321169"/>
                </a:lnTo>
                <a:lnTo>
                  <a:pt x="0" y="2321169"/>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 name="Straight Connector 10">
            <a:extLst>
              <a:ext uri="{FF2B5EF4-FFF2-40B4-BE49-F238E27FC236}">
                <a16:creationId xmlns:a16="http://schemas.microsoft.com/office/drawing/2014/main" id="{7B5DD2B9-0E66-041D-3F8A-C51EC9468EAF}"/>
              </a:ext>
            </a:extLst>
          </p:cNvPr>
          <p:cNvCxnSpPr>
            <a:cxnSpLocks/>
          </p:cNvCxnSpPr>
          <p:nvPr/>
        </p:nvCxnSpPr>
        <p:spPr>
          <a:xfrm>
            <a:off x="0" y="487065"/>
            <a:ext cx="6061249" cy="0"/>
          </a:xfrm>
          <a:prstGeom prst="line">
            <a:avLst/>
          </a:prstGeom>
          <a:ln w="12700">
            <a:gradFill>
              <a:gsLst>
                <a:gs pos="0">
                  <a:srgbClr val="68DCCF">
                    <a:alpha val="44000"/>
                  </a:srgbClr>
                </a:gs>
                <a:gs pos="100000">
                  <a:srgbClr val="066EB8">
                    <a:alpha val="38000"/>
                  </a:srgbClr>
                </a:gs>
              </a:gsLst>
              <a:lin ang="0" scaled="0"/>
            </a:gradFill>
          </a:ln>
          <a:effectLst>
            <a:softEdge rad="0"/>
          </a:effectLst>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A7DD9695-53EF-867D-5A1C-41942F6D9A1A}"/>
              </a:ext>
            </a:extLst>
          </p:cNvPr>
          <p:cNvGrpSpPr/>
          <p:nvPr/>
        </p:nvGrpSpPr>
        <p:grpSpPr>
          <a:xfrm>
            <a:off x="9682614" y="3574127"/>
            <a:ext cx="2543636" cy="3283874"/>
            <a:chOff x="10035010" y="4029075"/>
            <a:chExt cx="2191240" cy="2828925"/>
          </a:xfrm>
        </p:grpSpPr>
        <p:sp>
          <p:nvSpPr>
            <p:cNvPr id="38" name="Freeform: Shape 37">
              <a:extLst>
                <a:ext uri="{FF2B5EF4-FFF2-40B4-BE49-F238E27FC236}">
                  <a16:creationId xmlns:a16="http://schemas.microsoft.com/office/drawing/2014/main" id="{F4BD9484-7480-219D-9D52-B5292CB79C7B}"/>
                </a:ext>
              </a:extLst>
            </p:cNvPr>
            <p:cNvSpPr/>
            <p:nvPr/>
          </p:nvSpPr>
          <p:spPr>
            <a:xfrm flipH="1">
              <a:off x="10035010" y="4160314"/>
              <a:ext cx="2165902" cy="2697686"/>
            </a:xfrm>
            <a:custGeom>
              <a:avLst/>
              <a:gdLst>
                <a:gd name="connsiteX0" fmla="*/ 863795 w 3420990"/>
                <a:gd name="connsiteY0" fmla="*/ 0 h 4543877"/>
                <a:gd name="connsiteX1" fmla="*/ 3420990 w 3420990"/>
                <a:gd name="connsiteY1" fmla="*/ 1476433 h 4543877"/>
                <a:gd name="connsiteX2" fmla="*/ 3420990 w 3420990"/>
                <a:gd name="connsiteY2" fmla="*/ 4429135 h 4543877"/>
                <a:gd name="connsiteX3" fmla="*/ 3222267 w 3420990"/>
                <a:gd name="connsiteY3" fmla="*/ 4543877 h 4543877"/>
                <a:gd name="connsiteX4" fmla="*/ 0 w 3420990"/>
                <a:gd name="connsiteY4" fmla="*/ 4543877 h 4543877"/>
                <a:gd name="connsiteX5" fmla="*/ 0 w 3420990"/>
                <a:gd name="connsiteY5" fmla="*/ 498724 h 4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990" h="4543877">
                  <a:moveTo>
                    <a:pt x="863795" y="0"/>
                  </a:moveTo>
                  <a:lnTo>
                    <a:pt x="3420990" y="1476433"/>
                  </a:lnTo>
                  <a:lnTo>
                    <a:pt x="3420990" y="4429135"/>
                  </a:lnTo>
                  <a:lnTo>
                    <a:pt x="3222267" y="4543877"/>
                  </a:lnTo>
                  <a:lnTo>
                    <a:pt x="0" y="4543877"/>
                  </a:lnTo>
                  <a:lnTo>
                    <a:pt x="0" y="498724"/>
                  </a:lnTo>
                  <a:close/>
                </a:path>
              </a:pathLst>
            </a:custGeom>
            <a:solidFill>
              <a:srgbClr val="005D9D">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Shape 38">
              <a:extLst>
                <a:ext uri="{FF2B5EF4-FFF2-40B4-BE49-F238E27FC236}">
                  <a16:creationId xmlns:a16="http://schemas.microsoft.com/office/drawing/2014/main" id="{AC893C29-D617-A20E-CD00-FB669087D57B}"/>
                </a:ext>
              </a:extLst>
            </p:cNvPr>
            <p:cNvSpPr/>
            <p:nvPr/>
          </p:nvSpPr>
          <p:spPr>
            <a:xfrm flipH="1">
              <a:off x="10850153" y="4428307"/>
              <a:ext cx="1360500" cy="2429693"/>
            </a:xfrm>
            <a:custGeom>
              <a:avLst/>
              <a:gdLst>
                <a:gd name="connsiteX0" fmla="*/ 0 w 2148877"/>
                <a:gd name="connsiteY0" fmla="*/ 0 h 4092481"/>
                <a:gd name="connsiteX1" fmla="*/ 2148877 w 2148877"/>
                <a:gd name="connsiteY1" fmla="*/ 1240684 h 4092481"/>
                <a:gd name="connsiteX2" fmla="*/ 2148877 w 2148877"/>
                <a:gd name="connsiteY2" fmla="*/ 4092481 h 4092481"/>
                <a:gd name="connsiteX3" fmla="*/ 0 w 2148877"/>
                <a:gd name="connsiteY3" fmla="*/ 4092481 h 4092481"/>
              </a:gdLst>
              <a:ahLst/>
              <a:cxnLst>
                <a:cxn ang="0">
                  <a:pos x="connsiteX0" y="connsiteY0"/>
                </a:cxn>
                <a:cxn ang="0">
                  <a:pos x="connsiteX1" y="connsiteY1"/>
                </a:cxn>
                <a:cxn ang="0">
                  <a:pos x="connsiteX2" y="connsiteY2"/>
                </a:cxn>
                <a:cxn ang="0">
                  <a:pos x="connsiteX3" y="connsiteY3"/>
                </a:cxn>
              </a:cxnLst>
              <a:rect l="l" t="t" r="r" b="b"/>
              <a:pathLst>
                <a:path w="2148877" h="4092481">
                  <a:moveTo>
                    <a:pt x="0" y="0"/>
                  </a:moveTo>
                  <a:lnTo>
                    <a:pt x="2148877" y="1240684"/>
                  </a:lnTo>
                  <a:lnTo>
                    <a:pt x="2148877" y="4092481"/>
                  </a:lnTo>
                  <a:lnTo>
                    <a:pt x="0" y="4092481"/>
                  </a:lnTo>
                  <a:close/>
                </a:path>
              </a:pathLst>
            </a:custGeom>
            <a:solidFill>
              <a:srgbClr val="68DCCF">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8DAA6F23-4A91-A352-E055-C942F054BABD}"/>
                </a:ext>
              </a:extLst>
            </p:cNvPr>
            <p:cNvSpPr/>
            <p:nvPr/>
          </p:nvSpPr>
          <p:spPr>
            <a:xfrm flipH="1">
              <a:off x="11081799" y="5615351"/>
              <a:ext cx="1144451" cy="1239195"/>
            </a:xfrm>
            <a:custGeom>
              <a:avLst/>
              <a:gdLst>
                <a:gd name="connsiteX0" fmla="*/ 596246 w 1192406"/>
                <a:gd name="connsiteY0" fmla="*/ 1376858 h 1376857"/>
                <a:gd name="connsiteX1" fmla="*/ 1192406 w 1192406"/>
                <a:gd name="connsiteY1" fmla="*/ 1032586 h 1376857"/>
                <a:gd name="connsiteX2" fmla="*/ 1192378 w 1192406"/>
                <a:gd name="connsiteY2" fmla="*/ 344186 h 1376857"/>
                <a:gd name="connsiteX3" fmla="*/ 596160 w 1192406"/>
                <a:gd name="connsiteY3" fmla="*/ 0 h 1376857"/>
                <a:gd name="connsiteX4" fmla="*/ 0 w 1192406"/>
                <a:gd name="connsiteY4" fmla="*/ 344243 h 137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406" h="1376857">
                  <a:moveTo>
                    <a:pt x="596246" y="1376858"/>
                  </a:moveTo>
                  <a:lnTo>
                    <a:pt x="1192406" y="1032586"/>
                  </a:lnTo>
                  <a:lnTo>
                    <a:pt x="1192378" y="344186"/>
                  </a:lnTo>
                  <a:lnTo>
                    <a:pt x="596160" y="0"/>
                  </a:lnTo>
                  <a:lnTo>
                    <a:pt x="0" y="344243"/>
                  </a:lnTo>
                </a:path>
              </a:pathLst>
            </a:custGeom>
            <a:noFill/>
            <a:ln w="1143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Shape 40">
              <a:extLst>
                <a:ext uri="{FF2B5EF4-FFF2-40B4-BE49-F238E27FC236}">
                  <a16:creationId xmlns:a16="http://schemas.microsoft.com/office/drawing/2014/main" id="{FEAE927F-DF30-9565-85F5-C98D963BE3F9}"/>
                </a:ext>
              </a:extLst>
            </p:cNvPr>
            <p:cNvSpPr/>
            <p:nvPr/>
          </p:nvSpPr>
          <p:spPr>
            <a:xfrm flipH="1">
              <a:off x="10858212" y="5406634"/>
              <a:ext cx="693172" cy="562916"/>
            </a:xfrm>
            <a:custGeom>
              <a:avLst/>
              <a:gdLst>
                <a:gd name="connsiteX0" fmla="*/ 738882 w 738882"/>
                <a:gd name="connsiteY0" fmla="*/ 639841 h 639881"/>
                <a:gd name="connsiteX1" fmla="*/ 738862 w 738882"/>
                <a:gd name="connsiteY1" fmla="*/ 213260 h 639881"/>
                <a:gd name="connsiteX2" fmla="*/ 369421 w 738882"/>
                <a:gd name="connsiteY2" fmla="*/ 0 h 639881"/>
                <a:gd name="connsiteX3" fmla="*/ 0 w 738882"/>
                <a:gd name="connsiteY3" fmla="*/ 213301 h 639881"/>
                <a:gd name="connsiteX4" fmla="*/ 20 w 738882"/>
                <a:gd name="connsiteY4" fmla="*/ 639882 h 63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882" h="639881">
                  <a:moveTo>
                    <a:pt x="738882" y="639841"/>
                  </a:moveTo>
                  <a:lnTo>
                    <a:pt x="738862" y="213260"/>
                  </a:lnTo>
                  <a:lnTo>
                    <a:pt x="369421" y="0"/>
                  </a:lnTo>
                  <a:lnTo>
                    <a:pt x="0" y="213301"/>
                  </a:lnTo>
                  <a:lnTo>
                    <a:pt x="20" y="639882"/>
                  </a:lnTo>
                </a:path>
              </a:pathLst>
            </a:custGeom>
            <a:noFill/>
            <a:ln w="12700" cap="rnd">
              <a:solidFill>
                <a:schemeClr val="accent1">
                  <a:lumMod val="60000"/>
                  <a:lumOff val="40000"/>
                </a:schemeClr>
              </a:solidFill>
              <a:prstDash val="lgDash"/>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3F9BE00C-BB0B-C49C-9DA2-B58EFA7ED633}"/>
                </a:ext>
              </a:extLst>
            </p:cNvPr>
            <p:cNvSpPr/>
            <p:nvPr/>
          </p:nvSpPr>
          <p:spPr>
            <a:xfrm flipH="1">
              <a:off x="11552424" y="4029075"/>
              <a:ext cx="453715" cy="425462"/>
            </a:xfrm>
            <a:prstGeom prst="ellipse">
              <a:avLst/>
            </a:prstGeom>
            <a:gradFill>
              <a:gsLst>
                <a:gs pos="100000">
                  <a:schemeClr val="accent1"/>
                </a:gs>
                <a:gs pos="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9" name="Content Placeholder 1">
            <a:extLst>
              <a:ext uri="{FF2B5EF4-FFF2-40B4-BE49-F238E27FC236}">
                <a16:creationId xmlns:a16="http://schemas.microsoft.com/office/drawing/2014/main" id="{80C1D395-2958-471B-88CB-1B3AC1E08460}"/>
              </a:ext>
            </a:extLst>
          </p:cNvPr>
          <p:cNvSpPr txBox="1">
            <a:spLocks/>
          </p:cNvSpPr>
          <p:nvPr/>
        </p:nvSpPr>
        <p:spPr>
          <a:xfrm>
            <a:off x="620412" y="457518"/>
            <a:ext cx="2682962" cy="5956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white">
                    <a:lumMod val="95000"/>
                  </a:prstClr>
                </a:solidFill>
                <a:effectLst/>
                <a:uLnTx/>
                <a:uFillTx/>
                <a:latin typeface="Peugeot" pitchFamily="50" charset="0"/>
                <a:ea typeface="+mn-ea"/>
                <a:cs typeface="+mn-cs"/>
              </a:rPr>
              <a:t>Landing Page</a:t>
            </a:r>
          </a:p>
        </p:txBody>
      </p:sp>
      <p:pic>
        <p:nvPicPr>
          <p:cNvPr id="21" name="Picture 20">
            <a:extLst>
              <a:ext uri="{FF2B5EF4-FFF2-40B4-BE49-F238E27FC236}">
                <a16:creationId xmlns:a16="http://schemas.microsoft.com/office/drawing/2014/main" id="{77B449E3-1322-4A4A-BB35-7796A9102249}"/>
              </a:ext>
            </a:extLst>
          </p:cNvPr>
          <p:cNvPicPr>
            <a:picLocks noChangeAspect="1"/>
          </p:cNvPicPr>
          <p:nvPr/>
        </p:nvPicPr>
        <p:blipFill>
          <a:blip r:embed="rId2"/>
          <a:stretch>
            <a:fillRect/>
          </a:stretch>
        </p:blipFill>
        <p:spPr>
          <a:xfrm>
            <a:off x="749148" y="1217301"/>
            <a:ext cx="9303844" cy="4857154"/>
          </a:xfrm>
          <a:prstGeom prst="rect">
            <a:avLst/>
          </a:prstGeom>
        </p:spPr>
      </p:pic>
    </p:spTree>
    <p:extLst>
      <p:ext uri="{BB962C8B-B14F-4D97-AF65-F5344CB8AC3E}">
        <p14:creationId xmlns:p14="http://schemas.microsoft.com/office/powerpoint/2010/main" val="8455703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0A7E2"/>
            </a:gs>
            <a:gs pos="67000">
              <a:srgbClr val="066EB8"/>
            </a:gs>
            <a:gs pos="100000">
              <a:srgbClr val="005D9D"/>
            </a:gs>
          </a:gsLst>
          <a:lin ang="8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71693E7-DEEA-883E-9D24-9071CC904E1D}"/>
              </a:ext>
            </a:extLst>
          </p:cNvPr>
          <p:cNvSpPr/>
          <p:nvPr/>
        </p:nvSpPr>
        <p:spPr>
          <a:xfrm flipH="1" flipV="1">
            <a:off x="0" y="0"/>
            <a:ext cx="2338754" cy="3434862"/>
          </a:xfrm>
          <a:custGeom>
            <a:avLst/>
            <a:gdLst>
              <a:gd name="connsiteX0" fmla="*/ 0 w 2338754"/>
              <a:gd name="connsiteY0" fmla="*/ 0 h 3434862"/>
              <a:gd name="connsiteX1" fmla="*/ 2338754 w 2338754"/>
              <a:gd name="connsiteY1" fmla="*/ 0 h 3434862"/>
              <a:gd name="connsiteX2" fmla="*/ 2338754 w 2338754"/>
              <a:gd name="connsiteY2" fmla="*/ 3434862 h 3434862"/>
              <a:gd name="connsiteX3" fmla="*/ 0 w 2338754"/>
              <a:gd name="connsiteY3" fmla="*/ 3434862 h 3434862"/>
            </a:gdLst>
            <a:ahLst/>
            <a:cxnLst>
              <a:cxn ang="0">
                <a:pos x="connsiteX0" y="connsiteY0"/>
              </a:cxn>
              <a:cxn ang="0">
                <a:pos x="connsiteX1" y="connsiteY1"/>
              </a:cxn>
              <a:cxn ang="0">
                <a:pos x="connsiteX2" y="connsiteY2"/>
              </a:cxn>
              <a:cxn ang="0">
                <a:pos x="connsiteX3" y="connsiteY3"/>
              </a:cxn>
            </a:cxnLst>
            <a:rect l="l" t="t" r="r" b="b"/>
            <a:pathLst>
              <a:path w="2338754" h="3434862">
                <a:moveTo>
                  <a:pt x="0" y="0"/>
                </a:moveTo>
                <a:lnTo>
                  <a:pt x="2338754" y="0"/>
                </a:lnTo>
                <a:lnTo>
                  <a:pt x="2338754" y="3434862"/>
                </a:lnTo>
                <a:lnTo>
                  <a:pt x="0" y="3434862"/>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8">
            <a:extLst>
              <a:ext uri="{FF2B5EF4-FFF2-40B4-BE49-F238E27FC236}">
                <a16:creationId xmlns:a16="http://schemas.microsoft.com/office/drawing/2014/main" id="{38E7C6DB-8433-5E97-8D82-7E174C5822EF}"/>
              </a:ext>
            </a:extLst>
          </p:cNvPr>
          <p:cNvSpPr/>
          <p:nvPr/>
        </p:nvSpPr>
        <p:spPr>
          <a:xfrm flipH="1" flipV="1">
            <a:off x="0" y="0"/>
            <a:ext cx="3434862" cy="3012831"/>
          </a:xfrm>
          <a:custGeom>
            <a:avLst/>
            <a:gdLst>
              <a:gd name="connsiteX0" fmla="*/ 0 w 3434862"/>
              <a:gd name="connsiteY0" fmla="*/ 0 h 3012831"/>
              <a:gd name="connsiteX1" fmla="*/ 3434862 w 3434862"/>
              <a:gd name="connsiteY1" fmla="*/ 0 h 3012831"/>
              <a:gd name="connsiteX2" fmla="*/ 3434862 w 3434862"/>
              <a:gd name="connsiteY2" fmla="*/ 3012831 h 3012831"/>
              <a:gd name="connsiteX3" fmla="*/ 0 w 3434862"/>
              <a:gd name="connsiteY3" fmla="*/ 3012831 h 3012831"/>
            </a:gdLst>
            <a:ahLst/>
            <a:cxnLst>
              <a:cxn ang="0">
                <a:pos x="connsiteX0" y="connsiteY0"/>
              </a:cxn>
              <a:cxn ang="0">
                <a:pos x="connsiteX1" y="connsiteY1"/>
              </a:cxn>
              <a:cxn ang="0">
                <a:pos x="connsiteX2" y="connsiteY2"/>
              </a:cxn>
              <a:cxn ang="0">
                <a:pos x="connsiteX3" y="connsiteY3"/>
              </a:cxn>
            </a:cxnLst>
            <a:rect l="l" t="t" r="r" b="b"/>
            <a:pathLst>
              <a:path w="3434862" h="3012831">
                <a:moveTo>
                  <a:pt x="0" y="0"/>
                </a:moveTo>
                <a:lnTo>
                  <a:pt x="3434862" y="0"/>
                </a:lnTo>
                <a:lnTo>
                  <a:pt x="3434862" y="3012831"/>
                </a:lnTo>
                <a:lnTo>
                  <a:pt x="0" y="3012831"/>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CE49FAA0-2930-3017-1BCE-8419DC6B6E0A}"/>
              </a:ext>
            </a:extLst>
          </p:cNvPr>
          <p:cNvSpPr/>
          <p:nvPr/>
        </p:nvSpPr>
        <p:spPr>
          <a:xfrm flipH="1" flipV="1">
            <a:off x="416565" y="421819"/>
            <a:ext cx="2886808" cy="2321169"/>
          </a:xfrm>
          <a:custGeom>
            <a:avLst/>
            <a:gdLst>
              <a:gd name="connsiteX0" fmla="*/ 0 w 2886808"/>
              <a:gd name="connsiteY0" fmla="*/ 0 h 2321169"/>
              <a:gd name="connsiteX1" fmla="*/ 2886808 w 2886808"/>
              <a:gd name="connsiteY1" fmla="*/ 0 h 2321169"/>
              <a:gd name="connsiteX2" fmla="*/ 2886808 w 2886808"/>
              <a:gd name="connsiteY2" fmla="*/ 2321169 h 2321169"/>
              <a:gd name="connsiteX3" fmla="*/ 0 w 2886808"/>
              <a:gd name="connsiteY3" fmla="*/ 2321169 h 2321169"/>
            </a:gdLst>
            <a:ahLst/>
            <a:cxnLst>
              <a:cxn ang="0">
                <a:pos x="connsiteX0" y="connsiteY0"/>
              </a:cxn>
              <a:cxn ang="0">
                <a:pos x="connsiteX1" y="connsiteY1"/>
              </a:cxn>
              <a:cxn ang="0">
                <a:pos x="connsiteX2" y="connsiteY2"/>
              </a:cxn>
              <a:cxn ang="0">
                <a:pos x="connsiteX3" y="connsiteY3"/>
              </a:cxn>
            </a:cxnLst>
            <a:rect l="l" t="t" r="r" b="b"/>
            <a:pathLst>
              <a:path w="2886808" h="2321169">
                <a:moveTo>
                  <a:pt x="0" y="0"/>
                </a:moveTo>
                <a:lnTo>
                  <a:pt x="2886808" y="0"/>
                </a:lnTo>
                <a:lnTo>
                  <a:pt x="2886808" y="2321169"/>
                </a:lnTo>
                <a:lnTo>
                  <a:pt x="0" y="2321169"/>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 name="Straight Connector 10">
            <a:extLst>
              <a:ext uri="{FF2B5EF4-FFF2-40B4-BE49-F238E27FC236}">
                <a16:creationId xmlns:a16="http://schemas.microsoft.com/office/drawing/2014/main" id="{7B5DD2B9-0E66-041D-3F8A-C51EC9468EAF}"/>
              </a:ext>
            </a:extLst>
          </p:cNvPr>
          <p:cNvCxnSpPr>
            <a:cxnSpLocks/>
          </p:cNvCxnSpPr>
          <p:nvPr/>
        </p:nvCxnSpPr>
        <p:spPr>
          <a:xfrm>
            <a:off x="0" y="487065"/>
            <a:ext cx="6061249" cy="0"/>
          </a:xfrm>
          <a:prstGeom prst="line">
            <a:avLst/>
          </a:prstGeom>
          <a:ln w="12700">
            <a:gradFill>
              <a:gsLst>
                <a:gs pos="0">
                  <a:srgbClr val="68DCCF">
                    <a:alpha val="44000"/>
                  </a:srgbClr>
                </a:gs>
                <a:gs pos="100000">
                  <a:srgbClr val="066EB8">
                    <a:alpha val="38000"/>
                  </a:srgbClr>
                </a:gs>
              </a:gsLst>
              <a:lin ang="0" scaled="0"/>
            </a:gradFill>
          </a:ln>
          <a:effectLst>
            <a:softEdge rad="0"/>
          </a:effectLst>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A7DD9695-53EF-867D-5A1C-41942F6D9A1A}"/>
              </a:ext>
            </a:extLst>
          </p:cNvPr>
          <p:cNvGrpSpPr/>
          <p:nvPr/>
        </p:nvGrpSpPr>
        <p:grpSpPr>
          <a:xfrm>
            <a:off x="9682614" y="3574127"/>
            <a:ext cx="2543636" cy="3283874"/>
            <a:chOff x="10035010" y="4029075"/>
            <a:chExt cx="2191240" cy="2828925"/>
          </a:xfrm>
        </p:grpSpPr>
        <p:sp>
          <p:nvSpPr>
            <p:cNvPr id="38" name="Freeform: Shape 37">
              <a:extLst>
                <a:ext uri="{FF2B5EF4-FFF2-40B4-BE49-F238E27FC236}">
                  <a16:creationId xmlns:a16="http://schemas.microsoft.com/office/drawing/2014/main" id="{F4BD9484-7480-219D-9D52-B5292CB79C7B}"/>
                </a:ext>
              </a:extLst>
            </p:cNvPr>
            <p:cNvSpPr/>
            <p:nvPr/>
          </p:nvSpPr>
          <p:spPr>
            <a:xfrm flipH="1">
              <a:off x="10035010" y="4160314"/>
              <a:ext cx="2165902" cy="2697686"/>
            </a:xfrm>
            <a:custGeom>
              <a:avLst/>
              <a:gdLst>
                <a:gd name="connsiteX0" fmla="*/ 863795 w 3420990"/>
                <a:gd name="connsiteY0" fmla="*/ 0 h 4543877"/>
                <a:gd name="connsiteX1" fmla="*/ 3420990 w 3420990"/>
                <a:gd name="connsiteY1" fmla="*/ 1476433 h 4543877"/>
                <a:gd name="connsiteX2" fmla="*/ 3420990 w 3420990"/>
                <a:gd name="connsiteY2" fmla="*/ 4429135 h 4543877"/>
                <a:gd name="connsiteX3" fmla="*/ 3222267 w 3420990"/>
                <a:gd name="connsiteY3" fmla="*/ 4543877 h 4543877"/>
                <a:gd name="connsiteX4" fmla="*/ 0 w 3420990"/>
                <a:gd name="connsiteY4" fmla="*/ 4543877 h 4543877"/>
                <a:gd name="connsiteX5" fmla="*/ 0 w 3420990"/>
                <a:gd name="connsiteY5" fmla="*/ 498724 h 4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990" h="4543877">
                  <a:moveTo>
                    <a:pt x="863795" y="0"/>
                  </a:moveTo>
                  <a:lnTo>
                    <a:pt x="3420990" y="1476433"/>
                  </a:lnTo>
                  <a:lnTo>
                    <a:pt x="3420990" y="4429135"/>
                  </a:lnTo>
                  <a:lnTo>
                    <a:pt x="3222267" y="4543877"/>
                  </a:lnTo>
                  <a:lnTo>
                    <a:pt x="0" y="4543877"/>
                  </a:lnTo>
                  <a:lnTo>
                    <a:pt x="0" y="498724"/>
                  </a:lnTo>
                  <a:close/>
                </a:path>
              </a:pathLst>
            </a:custGeom>
            <a:solidFill>
              <a:srgbClr val="005D9D">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Shape 38">
              <a:extLst>
                <a:ext uri="{FF2B5EF4-FFF2-40B4-BE49-F238E27FC236}">
                  <a16:creationId xmlns:a16="http://schemas.microsoft.com/office/drawing/2014/main" id="{AC893C29-D617-A20E-CD00-FB669087D57B}"/>
                </a:ext>
              </a:extLst>
            </p:cNvPr>
            <p:cNvSpPr/>
            <p:nvPr/>
          </p:nvSpPr>
          <p:spPr>
            <a:xfrm flipH="1">
              <a:off x="10850153" y="4428307"/>
              <a:ext cx="1360500" cy="2429693"/>
            </a:xfrm>
            <a:custGeom>
              <a:avLst/>
              <a:gdLst>
                <a:gd name="connsiteX0" fmla="*/ 0 w 2148877"/>
                <a:gd name="connsiteY0" fmla="*/ 0 h 4092481"/>
                <a:gd name="connsiteX1" fmla="*/ 2148877 w 2148877"/>
                <a:gd name="connsiteY1" fmla="*/ 1240684 h 4092481"/>
                <a:gd name="connsiteX2" fmla="*/ 2148877 w 2148877"/>
                <a:gd name="connsiteY2" fmla="*/ 4092481 h 4092481"/>
                <a:gd name="connsiteX3" fmla="*/ 0 w 2148877"/>
                <a:gd name="connsiteY3" fmla="*/ 4092481 h 4092481"/>
              </a:gdLst>
              <a:ahLst/>
              <a:cxnLst>
                <a:cxn ang="0">
                  <a:pos x="connsiteX0" y="connsiteY0"/>
                </a:cxn>
                <a:cxn ang="0">
                  <a:pos x="connsiteX1" y="connsiteY1"/>
                </a:cxn>
                <a:cxn ang="0">
                  <a:pos x="connsiteX2" y="connsiteY2"/>
                </a:cxn>
                <a:cxn ang="0">
                  <a:pos x="connsiteX3" y="connsiteY3"/>
                </a:cxn>
              </a:cxnLst>
              <a:rect l="l" t="t" r="r" b="b"/>
              <a:pathLst>
                <a:path w="2148877" h="4092481">
                  <a:moveTo>
                    <a:pt x="0" y="0"/>
                  </a:moveTo>
                  <a:lnTo>
                    <a:pt x="2148877" y="1240684"/>
                  </a:lnTo>
                  <a:lnTo>
                    <a:pt x="2148877" y="4092481"/>
                  </a:lnTo>
                  <a:lnTo>
                    <a:pt x="0" y="4092481"/>
                  </a:lnTo>
                  <a:close/>
                </a:path>
              </a:pathLst>
            </a:custGeom>
            <a:solidFill>
              <a:srgbClr val="68DCCF">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8DAA6F23-4A91-A352-E055-C942F054BABD}"/>
                </a:ext>
              </a:extLst>
            </p:cNvPr>
            <p:cNvSpPr/>
            <p:nvPr/>
          </p:nvSpPr>
          <p:spPr>
            <a:xfrm flipH="1">
              <a:off x="11081799" y="5615351"/>
              <a:ext cx="1144451" cy="1239195"/>
            </a:xfrm>
            <a:custGeom>
              <a:avLst/>
              <a:gdLst>
                <a:gd name="connsiteX0" fmla="*/ 596246 w 1192406"/>
                <a:gd name="connsiteY0" fmla="*/ 1376858 h 1376857"/>
                <a:gd name="connsiteX1" fmla="*/ 1192406 w 1192406"/>
                <a:gd name="connsiteY1" fmla="*/ 1032586 h 1376857"/>
                <a:gd name="connsiteX2" fmla="*/ 1192378 w 1192406"/>
                <a:gd name="connsiteY2" fmla="*/ 344186 h 1376857"/>
                <a:gd name="connsiteX3" fmla="*/ 596160 w 1192406"/>
                <a:gd name="connsiteY3" fmla="*/ 0 h 1376857"/>
                <a:gd name="connsiteX4" fmla="*/ 0 w 1192406"/>
                <a:gd name="connsiteY4" fmla="*/ 344243 h 137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406" h="1376857">
                  <a:moveTo>
                    <a:pt x="596246" y="1376858"/>
                  </a:moveTo>
                  <a:lnTo>
                    <a:pt x="1192406" y="1032586"/>
                  </a:lnTo>
                  <a:lnTo>
                    <a:pt x="1192378" y="344186"/>
                  </a:lnTo>
                  <a:lnTo>
                    <a:pt x="596160" y="0"/>
                  </a:lnTo>
                  <a:lnTo>
                    <a:pt x="0" y="344243"/>
                  </a:lnTo>
                </a:path>
              </a:pathLst>
            </a:custGeom>
            <a:noFill/>
            <a:ln w="1143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Shape 40">
              <a:extLst>
                <a:ext uri="{FF2B5EF4-FFF2-40B4-BE49-F238E27FC236}">
                  <a16:creationId xmlns:a16="http://schemas.microsoft.com/office/drawing/2014/main" id="{FEAE927F-DF30-9565-85F5-C98D963BE3F9}"/>
                </a:ext>
              </a:extLst>
            </p:cNvPr>
            <p:cNvSpPr/>
            <p:nvPr/>
          </p:nvSpPr>
          <p:spPr>
            <a:xfrm flipH="1">
              <a:off x="10858212" y="5406634"/>
              <a:ext cx="693172" cy="562916"/>
            </a:xfrm>
            <a:custGeom>
              <a:avLst/>
              <a:gdLst>
                <a:gd name="connsiteX0" fmla="*/ 738882 w 738882"/>
                <a:gd name="connsiteY0" fmla="*/ 639841 h 639881"/>
                <a:gd name="connsiteX1" fmla="*/ 738862 w 738882"/>
                <a:gd name="connsiteY1" fmla="*/ 213260 h 639881"/>
                <a:gd name="connsiteX2" fmla="*/ 369421 w 738882"/>
                <a:gd name="connsiteY2" fmla="*/ 0 h 639881"/>
                <a:gd name="connsiteX3" fmla="*/ 0 w 738882"/>
                <a:gd name="connsiteY3" fmla="*/ 213301 h 639881"/>
                <a:gd name="connsiteX4" fmla="*/ 20 w 738882"/>
                <a:gd name="connsiteY4" fmla="*/ 639882 h 63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882" h="639881">
                  <a:moveTo>
                    <a:pt x="738882" y="639841"/>
                  </a:moveTo>
                  <a:lnTo>
                    <a:pt x="738862" y="213260"/>
                  </a:lnTo>
                  <a:lnTo>
                    <a:pt x="369421" y="0"/>
                  </a:lnTo>
                  <a:lnTo>
                    <a:pt x="0" y="213301"/>
                  </a:lnTo>
                  <a:lnTo>
                    <a:pt x="20" y="639882"/>
                  </a:lnTo>
                </a:path>
              </a:pathLst>
            </a:custGeom>
            <a:noFill/>
            <a:ln w="12700" cap="rnd">
              <a:solidFill>
                <a:schemeClr val="accent1">
                  <a:lumMod val="60000"/>
                  <a:lumOff val="40000"/>
                </a:schemeClr>
              </a:solidFill>
              <a:prstDash val="lgDash"/>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3F9BE00C-BB0B-C49C-9DA2-B58EFA7ED633}"/>
                </a:ext>
              </a:extLst>
            </p:cNvPr>
            <p:cNvSpPr/>
            <p:nvPr/>
          </p:nvSpPr>
          <p:spPr>
            <a:xfrm flipH="1">
              <a:off x="11552424" y="4029075"/>
              <a:ext cx="453715" cy="425462"/>
            </a:xfrm>
            <a:prstGeom prst="ellipse">
              <a:avLst/>
            </a:prstGeom>
            <a:gradFill>
              <a:gsLst>
                <a:gs pos="100000">
                  <a:schemeClr val="accent1"/>
                </a:gs>
                <a:gs pos="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9" name="Content Placeholder 1">
            <a:extLst>
              <a:ext uri="{FF2B5EF4-FFF2-40B4-BE49-F238E27FC236}">
                <a16:creationId xmlns:a16="http://schemas.microsoft.com/office/drawing/2014/main" id="{80C1D395-2958-471B-88CB-1B3AC1E08460}"/>
              </a:ext>
            </a:extLst>
          </p:cNvPr>
          <p:cNvSpPr txBox="1">
            <a:spLocks/>
          </p:cNvSpPr>
          <p:nvPr/>
        </p:nvSpPr>
        <p:spPr>
          <a:xfrm>
            <a:off x="620411" y="457518"/>
            <a:ext cx="4147531" cy="5956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white">
                    <a:lumMod val="95000"/>
                  </a:prstClr>
                </a:solidFill>
                <a:effectLst/>
                <a:uLnTx/>
                <a:uFillTx/>
                <a:latin typeface="Peugeot" pitchFamily="50" charset="0"/>
                <a:ea typeface="+mn-ea"/>
                <a:cs typeface="+mn-cs"/>
              </a:rPr>
              <a:t>Dashboard (Dark theme)</a:t>
            </a:r>
          </a:p>
        </p:txBody>
      </p:sp>
      <p:pic>
        <p:nvPicPr>
          <p:cNvPr id="14" name="Picture 13">
            <a:extLst>
              <a:ext uri="{FF2B5EF4-FFF2-40B4-BE49-F238E27FC236}">
                <a16:creationId xmlns:a16="http://schemas.microsoft.com/office/drawing/2014/main" id="{851B80DF-BE20-405A-ABD2-BBB6343847A6}"/>
              </a:ext>
            </a:extLst>
          </p:cNvPr>
          <p:cNvPicPr>
            <a:picLocks noChangeAspect="1"/>
          </p:cNvPicPr>
          <p:nvPr/>
        </p:nvPicPr>
        <p:blipFill>
          <a:blip r:embed="rId2"/>
          <a:stretch>
            <a:fillRect/>
          </a:stretch>
        </p:blipFill>
        <p:spPr>
          <a:xfrm>
            <a:off x="747142" y="1109606"/>
            <a:ext cx="10097728" cy="5072543"/>
          </a:xfrm>
          <a:prstGeom prst="rect">
            <a:avLst/>
          </a:prstGeom>
        </p:spPr>
      </p:pic>
    </p:spTree>
    <p:extLst>
      <p:ext uri="{BB962C8B-B14F-4D97-AF65-F5344CB8AC3E}">
        <p14:creationId xmlns:p14="http://schemas.microsoft.com/office/powerpoint/2010/main" val="13844805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0A7E2"/>
            </a:gs>
            <a:gs pos="67000">
              <a:srgbClr val="066EB8"/>
            </a:gs>
            <a:gs pos="100000">
              <a:srgbClr val="005D9D"/>
            </a:gs>
          </a:gsLst>
          <a:lin ang="8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71693E7-DEEA-883E-9D24-9071CC904E1D}"/>
              </a:ext>
            </a:extLst>
          </p:cNvPr>
          <p:cNvSpPr/>
          <p:nvPr/>
        </p:nvSpPr>
        <p:spPr>
          <a:xfrm flipH="1" flipV="1">
            <a:off x="0" y="0"/>
            <a:ext cx="2338754" cy="3434862"/>
          </a:xfrm>
          <a:custGeom>
            <a:avLst/>
            <a:gdLst>
              <a:gd name="connsiteX0" fmla="*/ 0 w 2338754"/>
              <a:gd name="connsiteY0" fmla="*/ 0 h 3434862"/>
              <a:gd name="connsiteX1" fmla="*/ 2338754 w 2338754"/>
              <a:gd name="connsiteY1" fmla="*/ 0 h 3434862"/>
              <a:gd name="connsiteX2" fmla="*/ 2338754 w 2338754"/>
              <a:gd name="connsiteY2" fmla="*/ 3434862 h 3434862"/>
              <a:gd name="connsiteX3" fmla="*/ 0 w 2338754"/>
              <a:gd name="connsiteY3" fmla="*/ 3434862 h 3434862"/>
            </a:gdLst>
            <a:ahLst/>
            <a:cxnLst>
              <a:cxn ang="0">
                <a:pos x="connsiteX0" y="connsiteY0"/>
              </a:cxn>
              <a:cxn ang="0">
                <a:pos x="connsiteX1" y="connsiteY1"/>
              </a:cxn>
              <a:cxn ang="0">
                <a:pos x="connsiteX2" y="connsiteY2"/>
              </a:cxn>
              <a:cxn ang="0">
                <a:pos x="connsiteX3" y="connsiteY3"/>
              </a:cxn>
            </a:cxnLst>
            <a:rect l="l" t="t" r="r" b="b"/>
            <a:pathLst>
              <a:path w="2338754" h="3434862">
                <a:moveTo>
                  <a:pt x="0" y="0"/>
                </a:moveTo>
                <a:lnTo>
                  <a:pt x="2338754" y="0"/>
                </a:lnTo>
                <a:lnTo>
                  <a:pt x="2338754" y="3434862"/>
                </a:lnTo>
                <a:lnTo>
                  <a:pt x="0" y="3434862"/>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8">
            <a:extLst>
              <a:ext uri="{FF2B5EF4-FFF2-40B4-BE49-F238E27FC236}">
                <a16:creationId xmlns:a16="http://schemas.microsoft.com/office/drawing/2014/main" id="{38E7C6DB-8433-5E97-8D82-7E174C5822EF}"/>
              </a:ext>
            </a:extLst>
          </p:cNvPr>
          <p:cNvSpPr/>
          <p:nvPr/>
        </p:nvSpPr>
        <p:spPr>
          <a:xfrm flipH="1" flipV="1">
            <a:off x="0" y="0"/>
            <a:ext cx="3434862" cy="3012831"/>
          </a:xfrm>
          <a:custGeom>
            <a:avLst/>
            <a:gdLst>
              <a:gd name="connsiteX0" fmla="*/ 0 w 3434862"/>
              <a:gd name="connsiteY0" fmla="*/ 0 h 3012831"/>
              <a:gd name="connsiteX1" fmla="*/ 3434862 w 3434862"/>
              <a:gd name="connsiteY1" fmla="*/ 0 h 3012831"/>
              <a:gd name="connsiteX2" fmla="*/ 3434862 w 3434862"/>
              <a:gd name="connsiteY2" fmla="*/ 3012831 h 3012831"/>
              <a:gd name="connsiteX3" fmla="*/ 0 w 3434862"/>
              <a:gd name="connsiteY3" fmla="*/ 3012831 h 3012831"/>
            </a:gdLst>
            <a:ahLst/>
            <a:cxnLst>
              <a:cxn ang="0">
                <a:pos x="connsiteX0" y="connsiteY0"/>
              </a:cxn>
              <a:cxn ang="0">
                <a:pos x="connsiteX1" y="connsiteY1"/>
              </a:cxn>
              <a:cxn ang="0">
                <a:pos x="connsiteX2" y="connsiteY2"/>
              </a:cxn>
              <a:cxn ang="0">
                <a:pos x="connsiteX3" y="connsiteY3"/>
              </a:cxn>
            </a:cxnLst>
            <a:rect l="l" t="t" r="r" b="b"/>
            <a:pathLst>
              <a:path w="3434862" h="3012831">
                <a:moveTo>
                  <a:pt x="0" y="0"/>
                </a:moveTo>
                <a:lnTo>
                  <a:pt x="3434862" y="0"/>
                </a:lnTo>
                <a:lnTo>
                  <a:pt x="3434862" y="3012831"/>
                </a:lnTo>
                <a:lnTo>
                  <a:pt x="0" y="3012831"/>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CE49FAA0-2930-3017-1BCE-8419DC6B6E0A}"/>
              </a:ext>
            </a:extLst>
          </p:cNvPr>
          <p:cNvSpPr/>
          <p:nvPr/>
        </p:nvSpPr>
        <p:spPr>
          <a:xfrm flipH="1" flipV="1">
            <a:off x="416565" y="421819"/>
            <a:ext cx="2886808" cy="2321169"/>
          </a:xfrm>
          <a:custGeom>
            <a:avLst/>
            <a:gdLst>
              <a:gd name="connsiteX0" fmla="*/ 0 w 2886808"/>
              <a:gd name="connsiteY0" fmla="*/ 0 h 2321169"/>
              <a:gd name="connsiteX1" fmla="*/ 2886808 w 2886808"/>
              <a:gd name="connsiteY1" fmla="*/ 0 h 2321169"/>
              <a:gd name="connsiteX2" fmla="*/ 2886808 w 2886808"/>
              <a:gd name="connsiteY2" fmla="*/ 2321169 h 2321169"/>
              <a:gd name="connsiteX3" fmla="*/ 0 w 2886808"/>
              <a:gd name="connsiteY3" fmla="*/ 2321169 h 2321169"/>
            </a:gdLst>
            <a:ahLst/>
            <a:cxnLst>
              <a:cxn ang="0">
                <a:pos x="connsiteX0" y="connsiteY0"/>
              </a:cxn>
              <a:cxn ang="0">
                <a:pos x="connsiteX1" y="connsiteY1"/>
              </a:cxn>
              <a:cxn ang="0">
                <a:pos x="connsiteX2" y="connsiteY2"/>
              </a:cxn>
              <a:cxn ang="0">
                <a:pos x="connsiteX3" y="connsiteY3"/>
              </a:cxn>
            </a:cxnLst>
            <a:rect l="l" t="t" r="r" b="b"/>
            <a:pathLst>
              <a:path w="2886808" h="2321169">
                <a:moveTo>
                  <a:pt x="0" y="0"/>
                </a:moveTo>
                <a:lnTo>
                  <a:pt x="2886808" y="0"/>
                </a:lnTo>
                <a:lnTo>
                  <a:pt x="2886808" y="2321169"/>
                </a:lnTo>
                <a:lnTo>
                  <a:pt x="0" y="2321169"/>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 name="Straight Connector 10">
            <a:extLst>
              <a:ext uri="{FF2B5EF4-FFF2-40B4-BE49-F238E27FC236}">
                <a16:creationId xmlns:a16="http://schemas.microsoft.com/office/drawing/2014/main" id="{7B5DD2B9-0E66-041D-3F8A-C51EC9468EAF}"/>
              </a:ext>
            </a:extLst>
          </p:cNvPr>
          <p:cNvCxnSpPr>
            <a:cxnSpLocks/>
          </p:cNvCxnSpPr>
          <p:nvPr/>
        </p:nvCxnSpPr>
        <p:spPr>
          <a:xfrm>
            <a:off x="0" y="487065"/>
            <a:ext cx="6061249" cy="0"/>
          </a:xfrm>
          <a:prstGeom prst="line">
            <a:avLst/>
          </a:prstGeom>
          <a:ln w="12700">
            <a:gradFill>
              <a:gsLst>
                <a:gs pos="0">
                  <a:srgbClr val="68DCCF">
                    <a:alpha val="44000"/>
                  </a:srgbClr>
                </a:gs>
                <a:gs pos="100000">
                  <a:srgbClr val="066EB8">
                    <a:alpha val="38000"/>
                  </a:srgbClr>
                </a:gs>
              </a:gsLst>
              <a:lin ang="0" scaled="0"/>
            </a:gradFill>
          </a:ln>
          <a:effectLst>
            <a:softEdge rad="0"/>
          </a:effectLst>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A7DD9695-53EF-867D-5A1C-41942F6D9A1A}"/>
              </a:ext>
            </a:extLst>
          </p:cNvPr>
          <p:cNvGrpSpPr/>
          <p:nvPr/>
        </p:nvGrpSpPr>
        <p:grpSpPr>
          <a:xfrm>
            <a:off x="9682614" y="3574127"/>
            <a:ext cx="2543636" cy="3283874"/>
            <a:chOff x="10035010" y="4029075"/>
            <a:chExt cx="2191240" cy="2828925"/>
          </a:xfrm>
        </p:grpSpPr>
        <p:sp>
          <p:nvSpPr>
            <p:cNvPr id="38" name="Freeform: Shape 37">
              <a:extLst>
                <a:ext uri="{FF2B5EF4-FFF2-40B4-BE49-F238E27FC236}">
                  <a16:creationId xmlns:a16="http://schemas.microsoft.com/office/drawing/2014/main" id="{F4BD9484-7480-219D-9D52-B5292CB79C7B}"/>
                </a:ext>
              </a:extLst>
            </p:cNvPr>
            <p:cNvSpPr/>
            <p:nvPr/>
          </p:nvSpPr>
          <p:spPr>
            <a:xfrm flipH="1">
              <a:off x="10035010" y="4160314"/>
              <a:ext cx="2165902" cy="2697686"/>
            </a:xfrm>
            <a:custGeom>
              <a:avLst/>
              <a:gdLst>
                <a:gd name="connsiteX0" fmla="*/ 863795 w 3420990"/>
                <a:gd name="connsiteY0" fmla="*/ 0 h 4543877"/>
                <a:gd name="connsiteX1" fmla="*/ 3420990 w 3420990"/>
                <a:gd name="connsiteY1" fmla="*/ 1476433 h 4543877"/>
                <a:gd name="connsiteX2" fmla="*/ 3420990 w 3420990"/>
                <a:gd name="connsiteY2" fmla="*/ 4429135 h 4543877"/>
                <a:gd name="connsiteX3" fmla="*/ 3222267 w 3420990"/>
                <a:gd name="connsiteY3" fmla="*/ 4543877 h 4543877"/>
                <a:gd name="connsiteX4" fmla="*/ 0 w 3420990"/>
                <a:gd name="connsiteY4" fmla="*/ 4543877 h 4543877"/>
                <a:gd name="connsiteX5" fmla="*/ 0 w 3420990"/>
                <a:gd name="connsiteY5" fmla="*/ 498724 h 4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990" h="4543877">
                  <a:moveTo>
                    <a:pt x="863795" y="0"/>
                  </a:moveTo>
                  <a:lnTo>
                    <a:pt x="3420990" y="1476433"/>
                  </a:lnTo>
                  <a:lnTo>
                    <a:pt x="3420990" y="4429135"/>
                  </a:lnTo>
                  <a:lnTo>
                    <a:pt x="3222267" y="4543877"/>
                  </a:lnTo>
                  <a:lnTo>
                    <a:pt x="0" y="4543877"/>
                  </a:lnTo>
                  <a:lnTo>
                    <a:pt x="0" y="498724"/>
                  </a:lnTo>
                  <a:close/>
                </a:path>
              </a:pathLst>
            </a:custGeom>
            <a:solidFill>
              <a:srgbClr val="005D9D">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Shape 38">
              <a:extLst>
                <a:ext uri="{FF2B5EF4-FFF2-40B4-BE49-F238E27FC236}">
                  <a16:creationId xmlns:a16="http://schemas.microsoft.com/office/drawing/2014/main" id="{AC893C29-D617-A20E-CD00-FB669087D57B}"/>
                </a:ext>
              </a:extLst>
            </p:cNvPr>
            <p:cNvSpPr/>
            <p:nvPr/>
          </p:nvSpPr>
          <p:spPr>
            <a:xfrm flipH="1">
              <a:off x="10850153" y="4428307"/>
              <a:ext cx="1360500" cy="2429693"/>
            </a:xfrm>
            <a:custGeom>
              <a:avLst/>
              <a:gdLst>
                <a:gd name="connsiteX0" fmla="*/ 0 w 2148877"/>
                <a:gd name="connsiteY0" fmla="*/ 0 h 4092481"/>
                <a:gd name="connsiteX1" fmla="*/ 2148877 w 2148877"/>
                <a:gd name="connsiteY1" fmla="*/ 1240684 h 4092481"/>
                <a:gd name="connsiteX2" fmla="*/ 2148877 w 2148877"/>
                <a:gd name="connsiteY2" fmla="*/ 4092481 h 4092481"/>
                <a:gd name="connsiteX3" fmla="*/ 0 w 2148877"/>
                <a:gd name="connsiteY3" fmla="*/ 4092481 h 4092481"/>
              </a:gdLst>
              <a:ahLst/>
              <a:cxnLst>
                <a:cxn ang="0">
                  <a:pos x="connsiteX0" y="connsiteY0"/>
                </a:cxn>
                <a:cxn ang="0">
                  <a:pos x="connsiteX1" y="connsiteY1"/>
                </a:cxn>
                <a:cxn ang="0">
                  <a:pos x="connsiteX2" y="connsiteY2"/>
                </a:cxn>
                <a:cxn ang="0">
                  <a:pos x="connsiteX3" y="connsiteY3"/>
                </a:cxn>
              </a:cxnLst>
              <a:rect l="l" t="t" r="r" b="b"/>
              <a:pathLst>
                <a:path w="2148877" h="4092481">
                  <a:moveTo>
                    <a:pt x="0" y="0"/>
                  </a:moveTo>
                  <a:lnTo>
                    <a:pt x="2148877" y="1240684"/>
                  </a:lnTo>
                  <a:lnTo>
                    <a:pt x="2148877" y="4092481"/>
                  </a:lnTo>
                  <a:lnTo>
                    <a:pt x="0" y="4092481"/>
                  </a:lnTo>
                  <a:close/>
                </a:path>
              </a:pathLst>
            </a:custGeom>
            <a:solidFill>
              <a:srgbClr val="68DCCF">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8DAA6F23-4A91-A352-E055-C942F054BABD}"/>
                </a:ext>
              </a:extLst>
            </p:cNvPr>
            <p:cNvSpPr/>
            <p:nvPr/>
          </p:nvSpPr>
          <p:spPr>
            <a:xfrm flipH="1">
              <a:off x="11081799" y="5615351"/>
              <a:ext cx="1144451" cy="1239195"/>
            </a:xfrm>
            <a:custGeom>
              <a:avLst/>
              <a:gdLst>
                <a:gd name="connsiteX0" fmla="*/ 596246 w 1192406"/>
                <a:gd name="connsiteY0" fmla="*/ 1376858 h 1376857"/>
                <a:gd name="connsiteX1" fmla="*/ 1192406 w 1192406"/>
                <a:gd name="connsiteY1" fmla="*/ 1032586 h 1376857"/>
                <a:gd name="connsiteX2" fmla="*/ 1192378 w 1192406"/>
                <a:gd name="connsiteY2" fmla="*/ 344186 h 1376857"/>
                <a:gd name="connsiteX3" fmla="*/ 596160 w 1192406"/>
                <a:gd name="connsiteY3" fmla="*/ 0 h 1376857"/>
                <a:gd name="connsiteX4" fmla="*/ 0 w 1192406"/>
                <a:gd name="connsiteY4" fmla="*/ 344243 h 137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406" h="1376857">
                  <a:moveTo>
                    <a:pt x="596246" y="1376858"/>
                  </a:moveTo>
                  <a:lnTo>
                    <a:pt x="1192406" y="1032586"/>
                  </a:lnTo>
                  <a:lnTo>
                    <a:pt x="1192378" y="344186"/>
                  </a:lnTo>
                  <a:lnTo>
                    <a:pt x="596160" y="0"/>
                  </a:lnTo>
                  <a:lnTo>
                    <a:pt x="0" y="344243"/>
                  </a:lnTo>
                </a:path>
              </a:pathLst>
            </a:custGeom>
            <a:noFill/>
            <a:ln w="1143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Shape 40">
              <a:extLst>
                <a:ext uri="{FF2B5EF4-FFF2-40B4-BE49-F238E27FC236}">
                  <a16:creationId xmlns:a16="http://schemas.microsoft.com/office/drawing/2014/main" id="{FEAE927F-DF30-9565-85F5-C98D963BE3F9}"/>
                </a:ext>
              </a:extLst>
            </p:cNvPr>
            <p:cNvSpPr/>
            <p:nvPr/>
          </p:nvSpPr>
          <p:spPr>
            <a:xfrm flipH="1">
              <a:off x="10858212" y="5406634"/>
              <a:ext cx="693172" cy="562916"/>
            </a:xfrm>
            <a:custGeom>
              <a:avLst/>
              <a:gdLst>
                <a:gd name="connsiteX0" fmla="*/ 738882 w 738882"/>
                <a:gd name="connsiteY0" fmla="*/ 639841 h 639881"/>
                <a:gd name="connsiteX1" fmla="*/ 738862 w 738882"/>
                <a:gd name="connsiteY1" fmla="*/ 213260 h 639881"/>
                <a:gd name="connsiteX2" fmla="*/ 369421 w 738882"/>
                <a:gd name="connsiteY2" fmla="*/ 0 h 639881"/>
                <a:gd name="connsiteX3" fmla="*/ 0 w 738882"/>
                <a:gd name="connsiteY3" fmla="*/ 213301 h 639881"/>
                <a:gd name="connsiteX4" fmla="*/ 20 w 738882"/>
                <a:gd name="connsiteY4" fmla="*/ 639882 h 63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882" h="639881">
                  <a:moveTo>
                    <a:pt x="738882" y="639841"/>
                  </a:moveTo>
                  <a:lnTo>
                    <a:pt x="738862" y="213260"/>
                  </a:lnTo>
                  <a:lnTo>
                    <a:pt x="369421" y="0"/>
                  </a:lnTo>
                  <a:lnTo>
                    <a:pt x="0" y="213301"/>
                  </a:lnTo>
                  <a:lnTo>
                    <a:pt x="20" y="639882"/>
                  </a:lnTo>
                </a:path>
              </a:pathLst>
            </a:custGeom>
            <a:noFill/>
            <a:ln w="12700" cap="rnd">
              <a:solidFill>
                <a:schemeClr val="accent1">
                  <a:lumMod val="60000"/>
                  <a:lumOff val="40000"/>
                </a:schemeClr>
              </a:solidFill>
              <a:prstDash val="lgDash"/>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3F9BE00C-BB0B-C49C-9DA2-B58EFA7ED633}"/>
                </a:ext>
              </a:extLst>
            </p:cNvPr>
            <p:cNvSpPr/>
            <p:nvPr/>
          </p:nvSpPr>
          <p:spPr>
            <a:xfrm flipH="1">
              <a:off x="11552424" y="4029075"/>
              <a:ext cx="453715" cy="425462"/>
            </a:xfrm>
            <a:prstGeom prst="ellipse">
              <a:avLst/>
            </a:prstGeom>
            <a:gradFill>
              <a:gsLst>
                <a:gs pos="100000">
                  <a:schemeClr val="accent1"/>
                </a:gs>
                <a:gs pos="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9" name="Content Placeholder 1">
            <a:extLst>
              <a:ext uri="{FF2B5EF4-FFF2-40B4-BE49-F238E27FC236}">
                <a16:creationId xmlns:a16="http://schemas.microsoft.com/office/drawing/2014/main" id="{80C1D395-2958-471B-88CB-1B3AC1E08460}"/>
              </a:ext>
            </a:extLst>
          </p:cNvPr>
          <p:cNvSpPr txBox="1">
            <a:spLocks/>
          </p:cNvSpPr>
          <p:nvPr/>
        </p:nvSpPr>
        <p:spPr>
          <a:xfrm>
            <a:off x="620411" y="457518"/>
            <a:ext cx="4147531" cy="5956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white">
                    <a:lumMod val="95000"/>
                  </a:prstClr>
                </a:solidFill>
                <a:effectLst/>
                <a:uLnTx/>
                <a:uFillTx/>
                <a:latin typeface="Peugeot" pitchFamily="50" charset="0"/>
                <a:ea typeface="+mn-ea"/>
                <a:cs typeface="+mn-cs"/>
              </a:rPr>
              <a:t>Analytics</a:t>
            </a:r>
          </a:p>
        </p:txBody>
      </p:sp>
      <p:pic>
        <p:nvPicPr>
          <p:cNvPr id="15" name="Picture 14">
            <a:extLst>
              <a:ext uri="{FF2B5EF4-FFF2-40B4-BE49-F238E27FC236}">
                <a16:creationId xmlns:a16="http://schemas.microsoft.com/office/drawing/2014/main" id="{793B7F07-C5E1-4444-A0A1-B8B198DC62BB}"/>
              </a:ext>
            </a:extLst>
          </p:cNvPr>
          <p:cNvPicPr>
            <a:picLocks noChangeAspect="1"/>
          </p:cNvPicPr>
          <p:nvPr/>
        </p:nvPicPr>
        <p:blipFill>
          <a:blip r:embed="rId2"/>
          <a:stretch>
            <a:fillRect/>
          </a:stretch>
        </p:blipFill>
        <p:spPr>
          <a:xfrm>
            <a:off x="676387" y="1043058"/>
            <a:ext cx="9886950" cy="4966660"/>
          </a:xfrm>
          <a:prstGeom prst="rect">
            <a:avLst/>
          </a:prstGeom>
        </p:spPr>
      </p:pic>
    </p:spTree>
    <p:extLst>
      <p:ext uri="{BB962C8B-B14F-4D97-AF65-F5344CB8AC3E}">
        <p14:creationId xmlns:p14="http://schemas.microsoft.com/office/powerpoint/2010/main" val="13702673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0A7E2"/>
            </a:gs>
            <a:gs pos="67000">
              <a:srgbClr val="066EB8"/>
            </a:gs>
            <a:gs pos="100000">
              <a:srgbClr val="005D9D"/>
            </a:gs>
          </a:gsLst>
          <a:lin ang="8400000" scaled="0"/>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71693E7-DEEA-883E-9D24-9071CC904E1D}"/>
              </a:ext>
            </a:extLst>
          </p:cNvPr>
          <p:cNvSpPr/>
          <p:nvPr/>
        </p:nvSpPr>
        <p:spPr>
          <a:xfrm flipH="1" flipV="1">
            <a:off x="0" y="0"/>
            <a:ext cx="2338754" cy="3434862"/>
          </a:xfrm>
          <a:custGeom>
            <a:avLst/>
            <a:gdLst>
              <a:gd name="connsiteX0" fmla="*/ 0 w 2338754"/>
              <a:gd name="connsiteY0" fmla="*/ 0 h 3434862"/>
              <a:gd name="connsiteX1" fmla="*/ 2338754 w 2338754"/>
              <a:gd name="connsiteY1" fmla="*/ 0 h 3434862"/>
              <a:gd name="connsiteX2" fmla="*/ 2338754 w 2338754"/>
              <a:gd name="connsiteY2" fmla="*/ 3434862 h 3434862"/>
              <a:gd name="connsiteX3" fmla="*/ 0 w 2338754"/>
              <a:gd name="connsiteY3" fmla="*/ 3434862 h 3434862"/>
            </a:gdLst>
            <a:ahLst/>
            <a:cxnLst>
              <a:cxn ang="0">
                <a:pos x="connsiteX0" y="connsiteY0"/>
              </a:cxn>
              <a:cxn ang="0">
                <a:pos x="connsiteX1" y="connsiteY1"/>
              </a:cxn>
              <a:cxn ang="0">
                <a:pos x="connsiteX2" y="connsiteY2"/>
              </a:cxn>
              <a:cxn ang="0">
                <a:pos x="connsiteX3" y="connsiteY3"/>
              </a:cxn>
            </a:cxnLst>
            <a:rect l="l" t="t" r="r" b="b"/>
            <a:pathLst>
              <a:path w="2338754" h="3434862">
                <a:moveTo>
                  <a:pt x="0" y="0"/>
                </a:moveTo>
                <a:lnTo>
                  <a:pt x="2338754" y="0"/>
                </a:lnTo>
                <a:lnTo>
                  <a:pt x="2338754" y="3434862"/>
                </a:lnTo>
                <a:lnTo>
                  <a:pt x="0" y="3434862"/>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8">
            <a:extLst>
              <a:ext uri="{FF2B5EF4-FFF2-40B4-BE49-F238E27FC236}">
                <a16:creationId xmlns:a16="http://schemas.microsoft.com/office/drawing/2014/main" id="{38E7C6DB-8433-5E97-8D82-7E174C5822EF}"/>
              </a:ext>
            </a:extLst>
          </p:cNvPr>
          <p:cNvSpPr/>
          <p:nvPr/>
        </p:nvSpPr>
        <p:spPr>
          <a:xfrm flipH="1" flipV="1">
            <a:off x="0" y="0"/>
            <a:ext cx="3434862" cy="3012831"/>
          </a:xfrm>
          <a:custGeom>
            <a:avLst/>
            <a:gdLst>
              <a:gd name="connsiteX0" fmla="*/ 0 w 3434862"/>
              <a:gd name="connsiteY0" fmla="*/ 0 h 3012831"/>
              <a:gd name="connsiteX1" fmla="*/ 3434862 w 3434862"/>
              <a:gd name="connsiteY1" fmla="*/ 0 h 3012831"/>
              <a:gd name="connsiteX2" fmla="*/ 3434862 w 3434862"/>
              <a:gd name="connsiteY2" fmla="*/ 3012831 h 3012831"/>
              <a:gd name="connsiteX3" fmla="*/ 0 w 3434862"/>
              <a:gd name="connsiteY3" fmla="*/ 3012831 h 3012831"/>
            </a:gdLst>
            <a:ahLst/>
            <a:cxnLst>
              <a:cxn ang="0">
                <a:pos x="connsiteX0" y="connsiteY0"/>
              </a:cxn>
              <a:cxn ang="0">
                <a:pos x="connsiteX1" y="connsiteY1"/>
              </a:cxn>
              <a:cxn ang="0">
                <a:pos x="connsiteX2" y="connsiteY2"/>
              </a:cxn>
              <a:cxn ang="0">
                <a:pos x="connsiteX3" y="connsiteY3"/>
              </a:cxn>
            </a:cxnLst>
            <a:rect l="l" t="t" r="r" b="b"/>
            <a:pathLst>
              <a:path w="3434862" h="3012831">
                <a:moveTo>
                  <a:pt x="0" y="0"/>
                </a:moveTo>
                <a:lnTo>
                  <a:pt x="3434862" y="0"/>
                </a:lnTo>
                <a:lnTo>
                  <a:pt x="3434862" y="3012831"/>
                </a:lnTo>
                <a:lnTo>
                  <a:pt x="0" y="3012831"/>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CE49FAA0-2930-3017-1BCE-8419DC6B6E0A}"/>
              </a:ext>
            </a:extLst>
          </p:cNvPr>
          <p:cNvSpPr/>
          <p:nvPr/>
        </p:nvSpPr>
        <p:spPr>
          <a:xfrm flipH="1" flipV="1">
            <a:off x="416565" y="421819"/>
            <a:ext cx="2886808" cy="2321169"/>
          </a:xfrm>
          <a:custGeom>
            <a:avLst/>
            <a:gdLst>
              <a:gd name="connsiteX0" fmla="*/ 0 w 2886808"/>
              <a:gd name="connsiteY0" fmla="*/ 0 h 2321169"/>
              <a:gd name="connsiteX1" fmla="*/ 2886808 w 2886808"/>
              <a:gd name="connsiteY1" fmla="*/ 0 h 2321169"/>
              <a:gd name="connsiteX2" fmla="*/ 2886808 w 2886808"/>
              <a:gd name="connsiteY2" fmla="*/ 2321169 h 2321169"/>
              <a:gd name="connsiteX3" fmla="*/ 0 w 2886808"/>
              <a:gd name="connsiteY3" fmla="*/ 2321169 h 2321169"/>
            </a:gdLst>
            <a:ahLst/>
            <a:cxnLst>
              <a:cxn ang="0">
                <a:pos x="connsiteX0" y="connsiteY0"/>
              </a:cxn>
              <a:cxn ang="0">
                <a:pos x="connsiteX1" y="connsiteY1"/>
              </a:cxn>
              <a:cxn ang="0">
                <a:pos x="connsiteX2" y="connsiteY2"/>
              </a:cxn>
              <a:cxn ang="0">
                <a:pos x="connsiteX3" y="connsiteY3"/>
              </a:cxn>
            </a:cxnLst>
            <a:rect l="l" t="t" r="r" b="b"/>
            <a:pathLst>
              <a:path w="2886808" h="2321169">
                <a:moveTo>
                  <a:pt x="0" y="0"/>
                </a:moveTo>
                <a:lnTo>
                  <a:pt x="2886808" y="0"/>
                </a:lnTo>
                <a:lnTo>
                  <a:pt x="2886808" y="2321169"/>
                </a:lnTo>
                <a:lnTo>
                  <a:pt x="0" y="2321169"/>
                </a:lnTo>
                <a:close/>
              </a:path>
            </a:pathLst>
          </a:custGeom>
          <a:solidFill>
            <a:srgbClr val="9E9CF5">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 name="Straight Connector 10">
            <a:extLst>
              <a:ext uri="{FF2B5EF4-FFF2-40B4-BE49-F238E27FC236}">
                <a16:creationId xmlns:a16="http://schemas.microsoft.com/office/drawing/2014/main" id="{7B5DD2B9-0E66-041D-3F8A-C51EC9468EAF}"/>
              </a:ext>
            </a:extLst>
          </p:cNvPr>
          <p:cNvCxnSpPr>
            <a:cxnSpLocks/>
          </p:cNvCxnSpPr>
          <p:nvPr/>
        </p:nvCxnSpPr>
        <p:spPr>
          <a:xfrm>
            <a:off x="0" y="487065"/>
            <a:ext cx="6061249" cy="0"/>
          </a:xfrm>
          <a:prstGeom prst="line">
            <a:avLst/>
          </a:prstGeom>
          <a:ln w="12700">
            <a:gradFill>
              <a:gsLst>
                <a:gs pos="0">
                  <a:srgbClr val="68DCCF">
                    <a:alpha val="44000"/>
                  </a:srgbClr>
                </a:gs>
                <a:gs pos="100000">
                  <a:srgbClr val="066EB8">
                    <a:alpha val="38000"/>
                  </a:srgbClr>
                </a:gs>
              </a:gsLst>
              <a:lin ang="0" scaled="0"/>
            </a:gradFill>
          </a:ln>
          <a:effectLst>
            <a:softEdge rad="0"/>
          </a:effectLst>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A7DD9695-53EF-867D-5A1C-41942F6D9A1A}"/>
              </a:ext>
            </a:extLst>
          </p:cNvPr>
          <p:cNvGrpSpPr/>
          <p:nvPr/>
        </p:nvGrpSpPr>
        <p:grpSpPr>
          <a:xfrm>
            <a:off x="9682614" y="3574127"/>
            <a:ext cx="2543636" cy="3283874"/>
            <a:chOff x="10035010" y="4029075"/>
            <a:chExt cx="2191240" cy="2828925"/>
          </a:xfrm>
        </p:grpSpPr>
        <p:sp>
          <p:nvSpPr>
            <p:cNvPr id="38" name="Freeform: Shape 37">
              <a:extLst>
                <a:ext uri="{FF2B5EF4-FFF2-40B4-BE49-F238E27FC236}">
                  <a16:creationId xmlns:a16="http://schemas.microsoft.com/office/drawing/2014/main" id="{F4BD9484-7480-219D-9D52-B5292CB79C7B}"/>
                </a:ext>
              </a:extLst>
            </p:cNvPr>
            <p:cNvSpPr/>
            <p:nvPr/>
          </p:nvSpPr>
          <p:spPr>
            <a:xfrm flipH="1">
              <a:off x="10035010" y="4160314"/>
              <a:ext cx="2165902" cy="2697686"/>
            </a:xfrm>
            <a:custGeom>
              <a:avLst/>
              <a:gdLst>
                <a:gd name="connsiteX0" fmla="*/ 863795 w 3420990"/>
                <a:gd name="connsiteY0" fmla="*/ 0 h 4543877"/>
                <a:gd name="connsiteX1" fmla="*/ 3420990 w 3420990"/>
                <a:gd name="connsiteY1" fmla="*/ 1476433 h 4543877"/>
                <a:gd name="connsiteX2" fmla="*/ 3420990 w 3420990"/>
                <a:gd name="connsiteY2" fmla="*/ 4429135 h 4543877"/>
                <a:gd name="connsiteX3" fmla="*/ 3222267 w 3420990"/>
                <a:gd name="connsiteY3" fmla="*/ 4543877 h 4543877"/>
                <a:gd name="connsiteX4" fmla="*/ 0 w 3420990"/>
                <a:gd name="connsiteY4" fmla="*/ 4543877 h 4543877"/>
                <a:gd name="connsiteX5" fmla="*/ 0 w 3420990"/>
                <a:gd name="connsiteY5" fmla="*/ 498724 h 4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990" h="4543877">
                  <a:moveTo>
                    <a:pt x="863795" y="0"/>
                  </a:moveTo>
                  <a:lnTo>
                    <a:pt x="3420990" y="1476433"/>
                  </a:lnTo>
                  <a:lnTo>
                    <a:pt x="3420990" y="4429135"/>
                  </a:lnTo>
                  <a:lnTo>
                    <a:pt x="3222267" y="4543877"/>
                  </a:lnTo>
                  <a:lnTo>
                    <a:pt x="0" y="4543877"/>
                  </a:lnTo>
                  <a:lnTo>
                    <a:pt x="0" y="498724"/>
                  </a:lnTo>
                  <a:close/>
                </a:path>
              </a:pathLst>
            </a:custGeom>
            <a:solidFill>
              <a:srgbClr val="005D9D">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Shape 38">
              <a:extLst>
                <a:ext uri="{FF2B5EF4-FFF2-40B4-BE49-F238E27FC236}">
                  <a16:creationId xmlns:a16="http://schemas.microsoft.com/office/drawing/2014/main" id="{AC893C29-D617-A20E-CD00-FB669087D57B}"/>
                </a:ext>
              </a:extLst>
            </p:cNvPr>
            <p:cNvSpPr/>
            <p:nvPr/>
          </p:nvSpPr>
          <p:spPr>
            <a:xfrm flipH="1">
              <a:off x="10850153" y="4428307"/>
              <a:ext cx="1360500" cy="2429693"/>
            </a:xfrm>
            <a:custGeom>
              <a:avLst/>
              <a:gdLst>
                <a:gd name="connsiteX0" fmla="*/ 0 w 2148877"/>
                <a:gd name="connsiteY0" fmla="*/ 0 h 4092481"/>
                <a:gd name="connsiteX1" fmla="*/ 2148877 w 2148877"/>
                <a:gd name="connsiteY1" fmla="*/ 1240684 h 4092481"/>
                <a:gd name="connsiteX2" fmla="*/ 2148877 w 2148877"/>
                <a:gd name="connsiteY2" fmla="*/ 4092481 h 4092481"/>
                <a:gd name="connsiteX3" fmla="*/ 0 w 2148877"/>
                <a:gd name="connsiteY3" fmla="*/ 4092481 h 4092481"/>
              </a:gdLst>
              <a:ahLst/>
              <a:cxnLst>
                <a:cxn ang="0">
                  <a:pos x="connsiteX0" y="connsiteY0"/>
                </a:cxn>
                <a:cxn ang="0">
                  <a:pos x="connsiteX1" y="connsiteY1"/>
                </a:cxn>
                <a:cxn ang="0">
                  <a:pos x="connsiteX2" y="connsiteY2"/>
                </a:cxn>
                <a:cxn ang="0">
                  <a:pos x="connsiteX3" y="connsiteY3"/>
                </a:cxn>
              </a:cxnLst>
              <a:rect l="l" t="t" r="r" b="b"/>
              <a:pathLst>
                <a:path w="2148877" h="4092481">
                  <a:moveTo>
                    <a:pt x="0" y="0"/>
                  </a:moveTo>
                  <a:lnTo>
                    <a:pt x="2148877" y="1240684"/>
                  </a:lnTo>
                  <a:lnTo>
                    <a:pt x="2148877" y="4092481"/>
                  </a:lnTo>
                  <a:lnTo>
                    <a:pt x="0" y="4092481"/>
                  </a:lnTo>
                  <a:close/>
                </a:path>
              </a:pathLst>
            </a:custGeom>
            <a:solidFill>
              <a:srgbClr val="68DCCF">
                <a:alpha val="26000"/>
              </a:srgbClr>
            </a:solidFill>
            <a:ln w="952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8DAA6F23-4A91-A352-E055-C942F054BABD}"/>
                </a:ext>
              </a:extLst>
            </p:cNvPr>
            <p:cNvSpPr/>
            <p:nvPr/>
          </p:nvSpPr>
          <p:spPr>
            <a:xfrm flipH="1">
              <a:off x="11081799" y="5615351"/>
              <a:ext cx="1144451" cy="1239195"/>
            </a:xfrm>
            <a:custGeom>
              <a:avLst/>
              <a:gdLst>
                <a:gd name="connsiteX0" fmla="*/ 596246 w 1192406"/>
                <a:gd name="connsiteY0" fmla="*/ 1376858 h 1376857"/>
                <a:gd name="connsiteX1" fmla="*/ 1192406 w 1192406"/>
                <a:gd name="connsiteY1" fmla="*/ 1032586 h 1376857"/>
                <a:gd name="connsiteX2" fmla="*/ 1192378 w 1192406"/>
                <a:gd name="connsiteY2" fmla="*/ 344186 h 1376857"/>
                <a:gd name="connsiteX3" fmla="*/ 596160 w 1192406"/>
                <a:gd name="connsiteY3" fmla="*/ 0 h 1376857"/>
                <a:gd name="connsiteX4" fmla="*/ 0 w 1192406"/>
                <a:gd name="connsiteY4" fmla="*/ 344243 h 1376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406" h="1376857">
                  <a:moveTo>
                    <a:pt x="596246" y="1376858"/>
                  </a:moveTo>
                  <a:lnTo>
                    <a:pt x="1192406" y="1032586"/>
                  </a:lnTo>
                  <a:lnTo>
                    <a:pt x="1192378" y="344186"/>
                  </a:lnTo>
                  <a:lnTo>
                    <a:pt x="596160" y="0"/>
                  </a:lnTo>
                  <a:lnTo>
                    <a:pt x="0" y="344243"/>
                  </a:lnTo>
                </a:path>
              </a:pathLst>
            </a:custGeom>
            <a:noFill/>
            <a:ln w="1143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Shape 40">
              <a:extLst>
                <a:ext uri="{FF2B5EF4-FFF2-40B4-BE49-F238E27FC236}">
                  <a16:creationId xmlns:a16="http://schemas.microsoft.com/office/drawing/2014/main" id="{FEAE927F-DF30-9565-85F5-C98D963BE3F9}"/>
                </a:ext>
              </a:extLst>
            </p:cNvPr>
            <p:cNvSpPr/>
            <p:nvPr/>
          </p:nvSpPr>
          <p:spPr>
            <a:xfrm flipH="1">
              <a:off x="10858212" y="5406634"/>
              <a:ext cx="693172" cy="562916"/>
            </a:xfrm>
            <a:custGeom>
              <a:avLst/>
              <a:gdLst>
                <a:gd name="connsiteX0" fmla="*/ 738882 w 738882"/>
                <a:gd name="connsiteY0" fmla="*/ 639841 h 639881"/>
                <a:gd name="connsiteX1" fmla="*/ 738862 w 738882"/>
                <a:gd name="connsiteY1" fmla="*/ 213260 h 639881"/>
                <a:gd name="connsiteX2" fmla="*/ 369421 w 738882"/>
                <a:gd name="connsiteY2" fmla="*/ 0 h 639881"/>
                <a:gd name="connsiteX3" fmla="*/ 0 w 738882"/>
                <a:gd name="connsiteY3" fmla="*/ 213301 h 639881"/>
                <a:gd name="connsiteX4" fmla="*/ 20 w 738882"/>
                <a:gd name="connsiteY4" fmla="*/ 639882 h 63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882" h="639881">
                  <a:moveTo>
                    <a:pt x="738882" y="639841"/>
                  </a:moveTo>
                  <a:lnTo>
                    <a:pt x="738862" y="213260"/>
                  </a:lnTo>
                  <a:lnTo>
                    <a:pt x="369421" y="0"/>
                  </a:lnTo>
                  <a:lnTo>
                    <a:pt x="0" y="213301"/>
                  </a:lnTo>
                  <a:lnTo>
                    <a:pt x="20" y="639882"/>
                  </a:lnTo>
                </a:path>
              </a:pathLst>
            </a:custGeom>
            <a:noFill/>
            <a:ln w="12700" cap="rnd">
              <a:solidFill>
                <a:schemeClr val="accent1">
                  <a:lumMod val="60000"/>
                  <a:lumOff val="40000"/>
                </a:schemeClr>
              </a:solidFill>
              <a:prstDash val="lgDash"/>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3F9BE00C-BB0B-C49C-9DA2-B58EFA7ED633}"/>
                </a:ext>
              </a:extLst>
            </p:cNvPr>
            <p:cNvSpPr/>
            <p:nvPr/>
          </p:nvSpPr>
          <p:spPr>
            <a:xfrm flipH="1">
              <a:off x="11552424" y="4029075"/>
              <a:ext cx="453715" cy="425462"/>
            </a:xfrm>
            <a:prstGeom prst="ellipse">
              <a:avLst/>
            </a:prstGeom>
            <a:gradFill>
              <a:gsLst>
                <a:gs pos="100000">
                  <a:schemeClr val="accent1"/>
                </a:gs>
                <a:gs pos="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9" name="Content Placeholder 1">
            <a:extLst>
              <a:ext uri="{FF2B5EF4-FFF2-40B4-BE49-F238E27FC236}">
                <a16:creationId xmlns:a16="http://schemas.microsoft.com/office/drawing/2014/main" id="{80C1D395-2958-471B-88CB-1B3AC1E08460}"/>
              </a:ext>
            </a:extLst>
          </p:cNvPr>
          <p:cNvSpPr txBox="1">
            <a:spLocks/>
          </p:cNvSpPr>
          <p:nvPr/>
        </p:nvSpPr>
        <p:spPr>
          <a:xfrm>
            <a:off x="620411" y="457518"/>
            <a:ext cx="4147531" cy="5956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white">
                    <a:lumMod val="95000"/>
                  </a:prstClr>
                </a:solidFill>
                <a:effectLst/>
                <a:uLnTx/>
                <a:uFillTx/>
                <a:latin typeface="Peugeot" pitchFamily="50" charset="0"/>
                <a:ea typeface="+mn-ea"/>
                <a:cs typeface="+mn-cs"/>
              </a:rPr>
              <a:t>Report</a:t>
            </a:r>
          </a:p>
        </p:txBody>
      </p:sp>
      <p:pic>
        <p:nvPicPr>
          <p:cNvPr id="14" name="Picture 13">
            <a:extLst>
              <a:ext uri="{FF2B5EF4-FFF2-40B4-BE49-F238E27FC236}">
                <a16:creationId xmlns:a16="http://schemas.microsoft.com/office/drawing/2014/main" id="{0A939E36-3188-41C4-98D6-4B97CB0F602F}"/>
              </a:ext>
            </a:extLst>
          </p:cNvPr>
          <p:cNvPicPr>
            <a:picLocks noChangeAspect="1"/>
          </p:cNvPicPr>
          <p:nvPr/>
        </p:nvPicPr>
        <p:blipFill>
          <a:blip r:embed="rId2"/>
          <a:stretch>
            <a:fillRect/>
          </a:stretch>
        </p:blipFill>
        <p:spPr>
          <a:xfrm>
            <a:off x="659581" y="1118370"/>
            <a:ext cx="9848851" cy="4952653"/>
          </a:xfrm>
          <a:prstGeom prst="rect">
            <a:avLst/>
          </a:prstGeom>
        </p:spPr>
      </p:pic>
    </p:spTree>
    <p:extLst>
      <p:ext uri="{BB962C8B-B14F-4D97-AF65-F5344CB8AC3E}">
        <p14:creationId xmlns:p14="http://schemas.microsoft.com/office/powerpoint/2010/main" val="40626766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BA5207-7A4C-4661-8EBC-205299CA526B}"/>
              </a:ext>
            </a:extLst>
          </p:cNvPr>
          <p:cNvSpPr txBox="1"/>
          <p:nvPr/>
        </p:nvSpPr>
        <p:spPr>
          <a:xfrm>
            <a:off x="4767409" y="2306369"/>
            <a:ext cx="197682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Peugeot" pitchFamily="50" charset="0"/>
                <a:ea typeface="Plus Jakarta Sans" pitchFamily="34" charset="-122"/>
                <a:cs typeface="Plus Jakarta Sans" pitchFamily="34" charset="-120"/>
              </a:rPr>
              <a:t>Conclusion</a:t>
            </a:r>
          </a:p>
        </p:txBody>
      </p:sp>
      <p:sp>
        <p:nvSpPr>
          <p:cNvPr id="4" name="Content Placeholder 2">
            <a:extLst>
              <a:ext uri="{FF2B5EF4-FFF2-40B4-BE49-F238E27FC236}">
                <a16:creationId xmlns:a16="http://schemas.microsoft.com/office/drawing/2014/main" id="{E2B77B05-445E-4955-BCAA-8A98F37CA7E9}"/>
              </a:ext>
            </a:extLst>
          </p:cNvPr>
          <p:cNvSpPr txBox="1">
            <a:spLocks/>
          </p:cNvSpPr>
          <p:nvPr/>
        </p:nvSpPr>
        <p:spPr>
          <a:xfrm>
            <a:off x="1039584" y="2917864"/>
            <a:ext cx="9432473" cy="16976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err="1">
                <a:ln>
                  <a:noFill/>
                </a:ln>
                <a:solidFill>
                  <a:prstClr val="black">
                    <a:lumMod val="75000"/>
                    <a:lumOff val="25000"/>
                  </a:prstClr>
                </a:solidFill>
                <a:effectLst/>
                <a:uLnTx/>
                <a:uFillTx/>
                <a:latin typeface="Roboto" pitchFamily="2" charset="0"/>
                <a:ea typeface="Roboto" pitchFamily="2" charset="0"/>
                <a:cs typeface="+mn-cs"/>
              </a:rPr>
              <a:t>ParseQri</a:t>
            </a:r>
            <a:r>
              <a:rPr kumimoji="0" lang="en-US" sz="1600" b="0" i="0" u="none" strike="noStrike" kern="1200" cap="none" spc="0" normalizeH="0" baseline="0" noProof="0" dirty="0">
                <a:ln>
                  <a:noFill/>
                </a:ln>
                <a:solidFill>
                  <a:prstClr val="black">
                    <a:lumMod val="75000"/>
                    <a:lumOff val="25000"/>
                  </a:prstClr>
                </a:solidFill>
                <a:effectLst/>
                <a:uLnTx/>
                <a:uFillTx/>
                <a:latin typeface="Roboto" pitchFamily="2" charset="0"/>
                <a:ea typeface="Roboto" pitchFamily="2" charset="0"/>
                <a:cs typeface="+mn-cs"/>
              </a:rPr>
              <a:t> redefines text-to-SQL interactions with its multi-agent system. By providing accurate, human-friendly responses and visualizations, it empowers non-expert users to interact with complex databases efficiently.</a:t>
            </a:r>
          </a:p>
        </p:txBody>
      </p:sp>
    </p:spTree>
    <p:extLst>
      <p:ext uri="{BB962C8B-B14F-4D97-AF65-F5344CB8AC3E}">
        <p14:creationId xmlns:p14="http://schemas.microsoft.com/office/powerpoint/2010/main" val="37400717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EC858E-5D22-EBDC-295C-08AA1F7BBD2F}"/>
              </a:ext>
            </a:extLst>
          </p:cNvPr>
          <p:cNvSpPr/>
          <p:nvPr/>
        </p:nvSpPr>
        <p:spPr>
          <a:xfrm>
            <a:off x="-7766" y="4908839"/>
            <a:ext cx="6510022" cy="1949161"/>
          </a:xfrm>
          <a:custGeom>
            <a:avLst/>
            <a:gdLst>
              <a:gd name="connsiteX0" fmla="*/ 0 w 6439911"/>
              <a:gd name="connsiteY0" fmla="*/ 0 h 1914525"/>
              <a:gd name="connsiteX1" fmla="*/ 6439911 w 6439911"/>
              <a:gd name="connsiteY1" fmla="*/ 0 h 1914525"/>
              <a:gd name="connsiteX2" fmla="*/ 6439911 w 6439911"/>
              <a:gd name="connsiteY2" fmla="*/ 1914525 h 1914525"/>
              <a:gd name="connsiteX3" fmla="*/ 0 w 6439911"/>
              <a:gd name="connsiteY3" fmla="*/ 1914525 h 1914525"/>
              <a:gd name="connsiteX4" fmla="*/ 0 w 6439911"/>
              <a:gd name="connsiteY4" fmla="*/ 0 h 1914525"/>
              <a:gd name="connsiteX0" fmla="*/ 0 w 6439911"/>
              <a:gd name="connsiteY0" fmla="*/ 0 h 1956089"/>
              <a:gd name="connsiteX1" fmla="*/ 6439911 w 6439911"/>
              <a:gd name="connsiteY1" fmla="*/ 0 h 1956089"/>
              <a:gd name="connsiteX2" fmla="*/ 5504730 w 6439911"/>
              <a:gd name="connsiteY2" fmla="*/ 1956089 h 1956089"/>
              <a:gd name="connsiteX3" fmla="*/ 0 w 6439911"/>
              <a:gd name="connsiteY3" fmla="*/ 1914525 h 1956089"/>
              <a:gd name="connsiteX4" fmla="*/ 0 w 6439911"/>
              <a:gd name="connsiteY4" fmla="*/ 0 h 1956089"/>
              <a:gd name="connsiteX0" fmla="*/ 0 w 6439911"/>
              <a:gd name="connsiteY0" fmla="*/ 0 h 1949161"/>
              <a:gd name="connsiteX1" fmla="*/ 6439911 w 6439911"/>
              <a:gd name="connsiteY1" fmla="*/ 0 h 1949161"/>
              <a:gd name="connsiteX2" fmla="*/ 5518585 w 6439911"/>
              <a:gd name="connsiteY2" fmla="*/ 1949161 h 1949161"/>
              <a:gd name="connsiteX3" fmla="*/ 0 w 6439911"/>
              <a:gd name="connsiteY3" fmla="*/ 1914525 h 1949161"/>
              <a:gd name="connsiteX4" fmla="*/ 0 w 6439911"/>
              <a:gd name="connsiteY4" fmla="*/ 0 h 1949161"/>
              <a:gd name="connsiteX0" fmla="*/ 0 w 6502256"/>
              <a:gd name="connsiteY0" fmla="*/ 0 h 1949161"/>
              <a:gd name="connsiteX1" fmla="*/ 6502256 w 6502256"/>
              <a:gd name="connsiteY1" fmla="*/ 0 h 1949161"/>
              <a:gd name="connsiteX2" fmla="*/ 5518585 w 6502256"/>
              <a:gd name="connsiteY2" fmla="*/ 1949161 h 1949161"/>
              <a:gd name="connsiteX3" fmla="*/ 0 w 6502256"/>
              <a:gd name="connsiteY3" fmla="*/ 1914525 h 1949161"/>
              <a:gd name="connsiteX4" fmla="*/ 0 w 6502256"/>
              <a:gd name="connsiteY4" fmla="*/ 0 h 1949161"/>
              <a:gd name="connsiteX0" fmla="*/ 0 w 6502256"/>
              <a:gd name="connsiteY0" fmla="*/ 0 h 1949161"/>
              <a:gd name="connsiteX1" fmla="*/ 6502256 w 6502256"/>
              <a:gd name="connsiteY1" fmla="*/ 0 h 1949161"/>
              <a:gd name="connsiteX2" fmla="*/ 5518585 w 6502256"/>
              <a:gd name="connsiteY2" fmla="*/ 1949161 h 1949161"/>
              <a:gd name="connsiteX3" fmla="*/ 13855 w 6502256"/>
              <a:gd name="connsiteY3" fmla="*/ 1921452 h 1949161"/>
              <a:gd name="connsiteX4" fmla="*/ 0 w 6502256"/>
              <a:gd name="connsiteY4" fmla="*/ 0 h 1949161"/>
              <a:gd name="connsiteX0" fmla="*/ 7766 w 6510022"/>
              <a:gd name="connsiteY0" fmla="*/ 0 h 1949161"/>
              <a:gd name="connsiteX1" fmla="*/ 6510022 w 6510022"/>
              <a:gd name="connsiteY1" fmla="*/ 0 h 1949161"/>
              <a:gd name="connsiteX2" fmla="*/ 5526351 w 6510022"/>
              <a:gd name="connsiteY2" fmla="*/ 1949161 h 1949161"/>
              <a:gd name="connsiteX3" fmla="*/ 839 w 6510022"/>
              <a:gd name="connsiteY3" fmla="*/ 1928379 h 1949161"/>
              <a:gd name="connsiteX4" fmla="*/ 7766 w 6510022"/>
              <a:gd name="connsiteY4" fmla="*/ 0 h 1949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0022" h="1949161">
                <a:moveTo>
                  <a:pt x="7766" y="0"/>
                </a:moveTo>
                <a:lnTo>
                  <a:pt x="6510022" y="0"/>
                </a:lnTo>
                <a:lnTo>
                  <a:pt x="5526351" y="1949161"/>
                </a:lnTo>
                <a:lnTo>
                  <a:pt x="839" y="1928379"/>
                </a:lnTo>
                <a:cubicBezTo>
                  <a:pt x="-3779" y="1287895"/>
                  <a:pt x="12384" y="640484"/>
                  <a:pt x="7766" y="0"/>
                </a:cubicBezTo>
                <a:close/>
              </a:path>
            </a:pathLst>
          </a:custGeom>
          <a:solidFill>
            <a:srgbClr val="2551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15C51D65-9F23-0505-33B5-98095DAE2CC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48446" y="0"/>
            <a:ext cx="6734174" cy="6858000"/>
          </a:xfrm>
          <a:prstGeom prst="rect">
            <a:avLst/>
          </a:prstGeom>
        </p:spPr>
      </p:pic>
      <p:sp>
        <p:nvSpPr>
          <p:cNvPr id="12" name="Rectangle 11">
            <a:extLst>
              <a:ext uri="{FF2B5EF4-FFF2-40B4-BE49-F238E27FC236}">
                <a16:creationId xmlns:a16="http://schemas.microsoft.com/office/drawing/2014/main" id="{339FDCDC-5462-016F-4246-7DBC4B202295}"/>
              </a:ext>
            </a:extLst>
          </p:cNvPr>
          <p:cNvSpPr/>
          <p:nvPr/>
        </p:nvSpPr>
        <p:spPr>
          <a:xfrm>
            <a:off x="49" y="1533664"/>
            <a:ext cx="9069355" cy="3501540"/>
          </a:xfrm>
          <a:custGeom>
            <a:avLst/>
            <a:gdLst>
              <a:gd name="connsiteX0" fmla="*/ 0 w 9069355"/>
              <a:gd name="connsiteY0" fmla="*/ 0 h 3492210"/>
              <a:gd name="connsiteX1" fmla="*/ 9069355 w 9069355"/>
              <a:gd name="connsiteY1" fmla="*/ 0 h 3492210"/>
              <a:gd name="connsiteX2" fmla="*/ 9069355 w 9069355"/>
              <a:gd name="connsiteY2" fmla="*/ 3492210 h 3492210"/>
              <a:gd name="connsiteX3" fmla="*/ 0 w 9069355"/>
              <a:gd name="connsiteY3" fmla="*/ 3492210 h 3492210"/>
              <a:gd name="connsiteX4" fmla="*/ 0 w 9069355"/>
              <a:gd name="connsiteY4" fmla="*/ 0 h 3492210"/>
              <a:gd name="connsiteX0" fmla="*/ 0 w 9069355"/>
              <a:gd name="connsiteY0" fmla="*/ 0 h 3510871"/>
              <a:gd name="connsiteX1" fmla="*/ 9069355 w 9069355"/>
              <a:gd name="connsiteY1" fmla="*/ 0 h 3510871"/>
              <a:gd name="connsiteX2" fmla="*/ 7697755 w 9069355"/>
              <a:gd name="connsiteY2" fmla="*/ 3510871 h 3510871"/>
              <a:gd name="connsiteX3" fmla="*/ 0 w 9069355"/>
              <a:gd name="connsiteY3" fmla="*/ 3492210 h 3510871"/>
              <a:gd name="connsiteX4" fmla="*/ 0 w 9069355"/>
              <a:gd name="connsiteY4" fmla="*/ 0 h 3510871"/>
              <a:gd name="connsiteX0" fmla="*/ 0 w 9069355"/>
              <a:gd name="connsiteY0" fmla="*/ 0 h 3492210"/>
              <a:gd name="connsiteX1" fmla="*/ 9069355 w 9069355"/>
              <a:gd name="connsiteY1" fmla="*/ 0 h 3492210"/>
              <a:gd name="connsiteX2" fmla="*/ 7417836 w 9069355"/>
              <a:gd name="connsiteY2" fmla="*/ 3482879 h 3492210"/>
              <a:gd name="connsiteX3" fmla="*/ 0 w 9069355"/>
              <a:gd name="connsiteY3" fmla="*/ 3492210 h 3492210"/>
              <a:gd name="connsiteX4" fmla="*/ 0 w 9069355"/>
              <a:gd name="connsiteY4" fmla="*/ 0 h 3492210"/>
              <a:gd name="connsiteX0" fmla="*/ 0 w 9069355"/>
              <a:gd name="connsiteY0" fmla="*/ 0 h 3492210"/>
              <a:gd name="connsiteX1" fmla="*/ 9069355 w 9069355"/>
              <a:gd name="connsiteY1" fmla="*/ 0 h 3492210"/>
              <a:gd name="connsiteX2" fmla="*/ 7212562 w 9069355"/>
              <a:gd name="connsiteY2" fmla="*/ 3445557 h 3492210"/>
              <a:gd name="connsiteX3" fmla="*/ 0 w 9069355"/>
              <a:gd name="connsiteY3" fmla="*/ 3492210 h 3492210"/>
              <a:gd name="connsiteX4" fmla="*/ 0 w 9069355"/>
              <a:gd name="connsiteY4" fmla="*/ 0 h 3492210"/>
              <a:gd name="connsiteX0" fmla="*/ 0 w 9069355"/>
              <a:gd name="connsiteY0" fmla="*/ 0 h 3492210"/>
              <a:gd name="connsiteX1" fmla="*/ 9069355 w 9069355"/>
              <a:gd name="connsiteY1" fmla="*/ 0 h 3492210"/>
              <a:gd name="connsiteX2" fmla="*/ 6988628 w 9069355"/>
              <a:gd name="connsiteY2" fmla="*/ 3389573 h 3492210"/>
              <a:gd name="connsiteX3" fmla="*/ 0 w 9069355"/>
              <a:gd name="connsiteY3" fmla="*/ 3492210 h 3492210"/>
              <a:gd name="connsiteX4" fmla="*/ 0 w 9069355"/>
              <a:gd name="connsiteY4" fmla="*/ 0 h 3492210"/>
              <a:gd name="connsiteX0" fmla="*/ 0 w 9069355"/>
              <a:gd name="connsiteY0" fmla="*/ 0 h 3492210"/>
              <a:gd name="connsiteX1" fmla="*/ 9069355 w 9069355"/>
              <a:gd name="connsiteY1" fmla="*/ 0 h 3492210"/>
              <a:gd name="connsiteX2" fmla="*/ 7072603 w 9069355"/>
              <a:gd name="connsiteY2" fmla="*/ 3389573 h 3492210"/>
              <a:gd name="connsiteX3" fmla="*/ 0 w 9069355"/>
              <a:gd name="connsiteY3" fmla="*/ 3492210 h 3492210"/>
              <a:gd name="connsiteX4" fmla="*/ 0 w 9069355"/>
              <a:gd name="connsiteY4" fmla="*/ 0 h 3492210"/>
              <a:gd name="connsiteX0" fmla="*/ 0 w 9069355"/>
              <a:gd name="connsiteY0" fmla="*/ 0 h 3501540"/>
              <a:gd name="connsiteX1" fmla="*/ 9069355 w 9069355"/>
              <a:gd name="connsiteY1" fmla="*/ 0 h 3501540"/>
              <a:gd name="connsiteX2" fmla="*/ 7016619 w 9069355"/>
              <a:gd name="connsiteY2" fmla="*/ 3501540 h 3501540"/>
              <a:gd name="connsiteX3" fmla="*/ 0 w 9069355"/>
              <a:gd name="connsiteY3" fmla="*/ 3492210 h 3501540"/>
              <a:gd name="connsiteX4" fmla="*/ 0 w 9069355"/>
              <a:gd name="connsiteY4" fmla="*/ 0 h 3501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9355" h="3501540">
                <a:moveTo>
                  <a:pt x="0" y="0"/>
                </a:moveTo>
                <a:lnTo>
                  <a:pt x="9069355" y="0"/>
                </a:lnTo>
                <a:lnTo>
                  <a:pt x="7016619" y="3501540"/>
                </a:lnTo>
                <a:lnTo>
                  <a:pt x="0" y="3492210"/>
                </a:lnTo>
                <a:lnTo>
                  <a:pt x="0" y="0"/>
                </a:lnTo>
                <a:close/>
              </a:path>
            </a:pathLst>
          </a:custGeom>
          <a:solidFill>
            <a:srgbClr val="066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Data 5">
            <a:extLst>
              <a:ext uri="{FF2B5EF4-FFF2-40B4-BE49-F238E27FC236}">
                <a16:creationId xmlns:a16="http://schemas.microsoft.com/office/drawing/2014/main" id="{FFDE514D-C1C4-3BA3-D34E-6DDFA1A4FDFE}"/>
              </a:ext>
            </a:extLst>
          </p:cNvPr>
          <p:cNvSpPr/>
          <p:nvPr/>
        </p:nvSpPr>
        <p:spPr>
          <a:xfrm>
            <a:off x="5591935" y="4547872"/>
            <a:ext cx="2934788" cy="940526"/>
          </a:xfrm>
          <a:prstGeom prst="flowChartInputOutput">
            <a:avLst/>
          </a:prstGeom>
          <a:solidFill>
            <a:srgbClr val="BBB0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roxima Nova Alt Rg" panose="02000506030000020004" pitchFamily="50" charset="0"/>
              <a:ea typeface="+mn-ea"/>
              <a:cs typeface="+mn-cs"/>
            </a:endParaRPr>
          </a:p>
        </p:txBody>
      </p:sp>
      <p:pic>
        <p:nvPicPr>
          <p:cNvPr id="7" name="Picture 6">
            <a:extLst>
              <a:ext uri="{FF2B5EF4-FFF2-40B4-BE49-F238E27FC236}">
                <a16:creationId xmlns:a16="http://schemas.microsoft.com/office/drawing/2014/main" id="{D7136AF4-7A00-38FC-B8A6-B9EEABEE3B7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77752" y="510878"/>
            <a:ext cx="1502192" cy="703800"/>
          </a:xfrm>
          <a:prstGeom prst="rect">
            <a:avLst/>
          </a:prstGeom>
        </p:spPr>
      </p:pic>
      <p:sp>
        <p:nvSpPr>
          <p:cNvPr id="8" name="TextBox 7">
            <a:extLst>
              <a:ext uri="{FF2B5EF4-FFF2-40B4-BE49-F238E27FC236}">
                <a16:creationId xmlns:a16="http://schemas.microsoft.com/office/drawing/2014/main" id="{E5238941-02F7-CF82-6078-45597B3D91E2}"/>
              </a:ext>
            </a:extLst>
          </p:cNvPr>
          <p:cNvSpPr txBox="1"/>
          <p:nvPr/>
        </p:nvSpPr>
        <p:spPr>
          <a:xfrm>
            <a:off x="520835" y="3577646"/>
            <a:ext cx="3718218"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0" i="0" u="none" strike="noStrike" kern="1200" cap="none" spc="0" normalizeH="0" baseline="0" noProof="0" dirty="0">
                <a:ln>
                  <a:noFill/>
                </a:ln>
                <a:solidFill>
                  <a:prstClr val="white"/>
                </a:solidFill>
                <a:effectLst/>
                <a:uLnTx/>
                <a:uFillTx/>
                <a:latin typeface="Proxima Nova Alt Rg" panose="02000506030000020004" pitchFamily="50" charset="0"/>
                <a:ea typeface="+mn-ea"/>
                <a:cs typeface="+mn-cs"/>
              </a:rPr>
              <a:t>Q&amp;A</a:t>
            </a:r>
            <a:endParaRPr kumimoji="0" lang="en-IN" sz="9600" b="0" i="0" u="none" strike="noStrike" kern="1200" cap="none" spc="0" normalizeH="0" baseline="0" noProof="0" dirty="0">
              <a:ln>
                <a:noFill/>
              </a:ln>
              <a:solidFill>
                <a:prstClr val="white"/>
              </a:solidFill>
              <a:effectLst/>
              <a:uLnTx/>
              <a:uFillTx/>
              <a:latin typeface="Proxima Nova Alt Rg" panose="02000506030000020004" pitchFamily="50" charset="0"/>
              <a:ea typeface="+mn-ea"/>
              <a:cs typeface="+mn-cs"/>
            </a:endParaRPr>
          </a:p>
        </p:txBody>
      </p:sp>
      <p:sp>
        <p:nvSpPr>
          <p:cNvPr id="9" name="TextBox 8">
            <a:extLst>
              <a:ext uri="{FF2B5EF4-FFF2-40B4-BE49-F238E27FC236}">
                <a16:creationId xmlns:a16="http://schemas.microsoft.com/office/drawing/2014/main" id="{843DB744-A658-F9AF-0FE5-E9A6CE7233FE}"/>
              </a:ext>
            </a:extLst>
          </p:cNvPr>
          <p:cNvSpPr txBox="1"/>
          <p:nvPr/>
        </p:nvSpPr>
        <p:spPr>
          <a:xfrm>
            <a:off x="668190" y="2779158"/>
            <a:ext cx="642533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Proxima Nova Alt Rg" panose="02000506030000020004" pitchFamily="50" charset="0"/>
                <a:ea typeface="+mn-ea"/>
                <a:cs typeface="+mn-cs"/>
              </a:rPr>
              <a:t>THANK YOU FOR YOUR TIME</a:t>
            </a:r>
            <a:endParaRPr kumimoji="0" lang="en-IN" sz="3600" b="0" i="0" u="none" strike="noStrike" kern="1200" cap="none" spc="0" normalizeH="0" baseline="0" noProof="0" dirty="0">
              <a:ln>
                <a:noFill/>
              </a:ln>
              <a:solidFill>
                <a:prstClr val="white"/>
              </a:solidFill>
              <a:effectLst/>
              <a:uLnTx/>
              <a:uFillTx/>
              <a:latin typeface="Proxima Nova Alt Rg" panose="02000506030000020004" pitchFamily="50" charset="0"/>
              <a:ea typeface="+mn-ea"/>
              <a:cs typeface="+mn-cs"/>
            </a:endParaRPr>
          </a:p>
        </p:txBody>
      </p:sp>
      <p:sp>
        <p:nvSpPr>
          <p:cNvPr id="11" name="Footer Placeholder 15">
            <a:extLst>
              <a:ext uri="{FF2B5EF4-FFF2-40B4-BE49-F238E27FC236}">
                <a16:creationId xmlns:a16="http://schemas.microsoft.com/office/drawing/2014/main" id="{092222FF-BF37-17AD-EE3A-5EC71227A5FF}"/>
              </a:ext>
            </a:extLst>
          </p:cNvPr>
          <p:cNvSpPr>
            <a:spLocks noGrp="1"/>
          </p:cNvSpPr>
          <p:nvPr>
            <p:ph type="ftr" sz="quarter" idx="4294967295"/>
          </p:nvPr>
        </p:nvSpPr>
        <p:spPr>
          <a:xfrm>
            <a:off x="0" y="5764213"/>
            <a:ext cx="41148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Proxima Nova Alt Rg" panose="02000506030000020004" pitchFamily="50" charset="0"/>
                <a:ea typeface="+mn-ea"/>
                <a:cs typeface="+mn-cs"/>
              </a:rPr>
              <a:t>www.c2c-as.com</a:t>
            </a:r>
          </a:p>
        </p:txBody>
      </p:sp>
    </p:spTree>
    <p:extLst>
      <p:ext uri="{BB962C8B-B14F-4D97-AF65-F5344CB8AC3E}">
        <p14:creationId xmlns:p14="http://schemas.microsoft.com/office/powerpoint/2010/main" val="34834218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335</Words>
  <Application>Microsoft Office PowerPoint</Application>
  <PresentationFormat>Widescreen</PresentationFormat>
  <Paragraphs>56</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Aptos</vt:lpstr>
      <vt:lpstr>Arial</vt:lpstr>
      <vt:lpstr>Karla</vt:lpstr>
      <vt:lpstr>Peugeot</vt:lpstr>
      <vt:lpstr>Plus Jakarta Sans Medium</vt:lpstr>
      <vt:lpstr>Proxima Nova Alt Rg</vt:lpstr>
      <vt:lpstr>Roboto</vt:lpstr>
      <vt:lpstr>Roboto Cn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Sona Das</dc:creator>
  <cp:lastModifiedBy>Sona Das</cp:lastModifiedBy>
  <cp:revision>3</cp:revision>
  <dcterms:created xsi:type="dcterms:W3CDTF">2025-11-05T06:52:16Z</dcterms:created>
  <dcterms:modified xsi:type="dcterms:W3CDTF">2025-11-05T09:34:19Z</dcterms:modified>
</cp:coreProperties>
</file>